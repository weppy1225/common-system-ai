
<file path=[Content_Types].xml><?xml version="1.0" encoding="utf-8"?>
<Types xmlns="http://schemas.openxmlformats.org/package/2006/content-types">
  <Default Extension="tmp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304" r:id="rId2"/>
    <p:sldId id="258" r:id="rId3"/>
    <p:sldId id="1292" r:id="rId4"/>
    <p:sldId id="1300" r:id="rId5"/>
    <p:sldId id="1305" r:id="rId6"/>
    <p:sldId id="1306" r:id="rId7"/>
  </p:sldIdLst>
  <p:sldSz cx="9721850" cy="6858000"/>
  <p:notesSz cx="6888163" cy="100171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942832-4345-4A04-9418-B2A65F213EEB}">
          <p14:sldIdLst>
            <p14:sldId id="1304"/>
            <p14:sldId id="258"/>
            <p14:sldId id="1292"/>
            <p14:sldId id="1300"/>
            <p14:sldId id="1305"/>
            <p14:sldId id="1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5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th4241@gmail.com" initials="k" lastIdx="4" clrIdx="0">
    <p:extLst>
      <p:ext uri="{19B8F6BF-5375-455C-9EA6-DF929625EA0E}">
        <p15:presenceInfo xmlns:p15="http://schemas.microsoft.com/office/powerpoint/2012/main" userId="kth4241@gmail.com" providerId="None"/>
      </p:ext>
    </p:extLst>
  </p:cmAuthor>
  <p:cmAuthor id="2" name="ZIN" initials="Z" lastIdx="3" clrIdx="1">
    <p:extLst>
      <p:ext uri="{19B8F6BF-5375-455C-9EA6-DF929625EA0E}">
        <p15:presenceInfo xmlns:p15="http://schemas.microsoft.com/office/powerpoint/2012/main" userId="ZIN" providerId="None"/>
      </p:ext>
    </p:extLst>
  </p:cmAuthor>
  <p:cmAuthor id="3" name="Yu Hyeonggi" initials="YH" lastIdx="1" clrIdx="2">
    <p:extLst>
      <p:ext uri="{19B8F6BF-5375-455C-9EA6-DF929625EA0E}">
        <p15:presenceInfo xmlns:p15="http://schemas.microsoft.com/office/powerpoint/2012/main" userId="5355f0c0fff49c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FF"/>
    <a:srgbClr val="FFFF99"/>
    <a:srgbClr val="D9D9D9"/>
    <a:srgbClr val="FFFFFF"/>
    <a:srgbClr val="FFFFCC"/>
    <a:srgbClr val="EAEAEA"/>
    <a:srgbClr val="C75F09"/>
    <a:srgbClr val="782C02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46" autoAdjust="0"/>
  </p:normalViewPr>
  <p:slideViewPr>
    <p:cSldViewPr>
      <p:cViewPr varScale="1">
        <p:scale>
          <a:sx n="98" d="100"/>
          <a:sy n="98" d="100"/>
        </p:scale>
        <p:origin x="3270" y="96"/>
      </p:cViewPr>
      <p:guideLst>
        <p:guide orient="horz" pos="2160"/>
        <p:guide pos="30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2512" y="76"/>
      </p:cViewPr>
      <p:guideLst>
        <p:guide orient="horz" pos="3155"/>
        <p:guide pos="216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39A43-1B35-4AE7-948F-9762FCF584D8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1388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2075" y="951388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FE50B-EE42-460E-A26B-DE84B9220A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149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85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85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94FD8C86-13B0-495D-AEEE-7DC33EC04AA8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82638" y="750888"/>
            <a:ext cx="5322887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135"/>
            <a:ext cx="5510530" cy="4507706"/>
          </a:xfrm>
          <a:prstGeom prst="rect">
            <a:avLst/>
          </a:prstGeom>
        </p:spPr>
        <p:txBody>
          <a:bodyPr vert="horz" lIns="96597" tIns="48299" rIns="96597" bIns="4829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4530"/>
            <a:ext cx="2984871" cy="500856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4530"/>
            <a:ext cx="2984871" cy="500856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283A751D-A29E-4BC0-B69E-1490D04F3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23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A751D-A29E-4BC0-B69E-1490D04F360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865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81050" y="750888"/>
            <a:ext cx="5326063" cy="3756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A751D-A29E-4BC0-B69E-1490D04F360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052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81050" y="750888"/>
            <a:ext cx="5326063" cy="3756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A751D-A29E-4BC0-B69E-1490D04F360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473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81050" y="750888"/>
            <a:ext cx="5326063" cy="3756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A751D-A29E-4BC0-B69E-1490D04F360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625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81050" y="750888"/>
            <a:ext cx="5326063" cy="3756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A751D-A29E-4BC0-B69E-1490D04F360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73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6595949" y="3073574"/>
            <a:ext cx="2459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시스템 구성도</a:t>
            </a:r>
            <a:endParaRPr lang="ko-KR" altLang="en-US" sz="2800" dirty="0"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2097B08-3412-F4C0-C6A4-1AFA2590BE99}"/>
              </a:ext>
            </a:extLst>
          </p:cNvPr>
          <p:cNvCxnSpPr/>
          <p:nvPr userDrawn="1"/>
        </p:nvCxnSpPr>
        <p:spPr>
          <a:xfrm rot="5400000">
            <a:off x="8625529" y="3504371"/>
            <a:ext cx="1247775" cy="3175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51EDB40-1443-FF0C-9F2F-F4E84EE684BC}"/>
              </a:ext>
            </a:extLst>
          </p:cNvPr>
          <p:cNvCxnSpPr/>
          <p:nvPr userDrawn="1"/>
        </p:nvCxnSpPr>
        <p:spPr>
          <a:xfrm>
            <a:off x="621885" y="3737734"/>
            <a:ext cx="8629119" cy="435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화면 캡처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341" y="6525344"/>
            <a:ext cx="792088" cy="2257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4253229" y="456938"/>
            <a:ext cx="1215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b="1" u="sng">
                <a:latin typeface="+mn-ea"/>
              </a:rPr>
              <a:t> 개 정 이 력 </a:t>
            </a: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44319" y="5985284"/>
            <a:ext cx="903321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 userDrawn="1"/>
        </p:nvSpPr>
        <p:spPr>
          <a:xfrm>
            <a:off x="327514" y="6021292"/>
            <a:ext cx="4860925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>
                <a:latin typeface="+mn-ea"/>
              </a:rPr>
              <a:t>¹</a:t>
            </a:r>
            <a:r>
              <a:rPr lang="ko-KR" altLang="en-US" sz="800">
                <a:latin typeface="+mn-ea"/>
              </a:rPr>
              <a:t>변경사유</a:t>
            </a:r>
            <a:r>
              <a:rPr lang="en-US" altLang="ko-KR" sz="800">
                <a:latin typeface="+mn-ea"/>
              </a:rPr>
              <a:t>: </a:t>
            </a:r>
            <a:r>
              <a:rPr lang="ko-KR" altLang="en-US" sz="800">
                <a:latin typeface="+mn-ea"/>
              </a:rPr>
              <a:t>변경 내용이 이전 문서에 대해 추가</a:t>
            </a:r>
            <a:r>
              <a:rPr lang="en-US" altLang="ko-KR" sz="800">
                <a:latin typeface="+mn-ea"/>
              </a:rPr>
              <a:t>/</a:t>
            </a:r>
            <a:r>
              <a:rPr lang="ko-KR" altLang="en-US" sz="800">
                <a:latin typeface="+mn-ea"/>
              </a:rPr>
              <a:t>수정</a:t>
            </a:r>
            <a:r>
              <a:rPr lang="en-US" altLang="ko-KR" sz="800">
                <a:latin typeface="+mn-ea"/>
              </a:rPr>
              <a:t>/</a:t>
            </a:r>
            <a:r>
              <a:rPr lang="ko-KR" altLang="en-US" sz="800">
                <a:latin typeface="+mn-ea"/>
              </a:rPr>
              <a:t>삭제 여부 선택 기입</a:t>
            </a:r>
            <a:endParaRPr lang="en-US" altLang="ko-KR" sz="800"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ko-KR" sz="800">
                <a:latin typeface="+mn-ea"/>
              </a:rPr>
              <a:t>²</a:t>
            </a:r>
            <a:r>
              <a:rPr lang="ko-KR" altLang="en-US" sz="800">
                <a:latin typeface="+mn-ea"/>
              </a:rPr>
              <a:t>변경 내용</a:t>
            </a:r>
            <a:r>
              <a:rPr lang="en-US" altLang="ko-KR" sz="800">
                <a:latin typeface="+mn-ea"/>
              </a:rPr>
              <a:t>: </a:t>
            </a:r>
            <a:r>
              <a:rPr lang="ko-KR" altLang="en-US" sz="800">
                <a:latin typeface="+mn-ea"/>
              </a:rPr>
              <a:t>변경이 발생되는 위치와 변경 내용을 자세히 기록 </a:t>
            </a:r>
            <a:r>
              <a:rPr lang="en-US" altLang="ko-KR" sz="800">
                <a:latin typeface="+mn-ea"/>
              </a:rPr>
              <a:t>(</a:t>
            </a:r>
            <a:r>
              <a:rPr lang="ko-KR" altLang="en-US" sz="800">
                <a:latin typeface="+mn-ea"/>
              </a:rPr>
              <a:t>장</a:t>
            </a:r>
            <a:r>
              <a:rPr lang="en-US" altLang="ko-KR" sz="800">
                <a:latin typeface="+mn-ea"/>
              </a:rPr>
              <a:t>·</a:t>
            </a:r>
            <a:r>
              <a:rPr lang="ko-KR" altLang="en-US" sz="800">
                <a:latin typeface="+mn-ea"/>
              </a:rPr>
              <a:t>절과 변경 내용을 기술한다</a:t>
            </a:r>
            <a:r>
              <a:rPr lang="en-US" altLang="ko-KR" sz="800">
                <a:latin typeface="+mn-ea"/>
              </a:rPr>
              <a:t>.)</a:t>
            </a:r>
            <a:endParaRPr lang="ko-KR" altLang="en-US" sz="8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014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4557798" y="456938"/>
            <a:ext cx="606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b="1" u="sng">
                <a:latin typeface="+mn-ea"/>
              </a:rPr>
              <a:t>목 차</a:t>
            </a:r>
          </a:p>
        </p:txBody>
      </p:sp>
    </p:spTree>
    <p:extLst>
      <p:ext uri="{BB962C8B-B14F-4D97-AF65-F5344CB8AC3E}">
        <p14:creationId xmlns:p14="http://schemas.microsoft.com/office/powerpoint/2010/main" val="120678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연결선 41"/>
          <p:cNvCxnSpPr/>
          <p:nvPr userDrawn="1"/>
        </p:nvCxnSpPr>
        <p:spPr>
          <a:xfrm>
            <a:off x="159019" y="6489340"/>
            <a:ext cx="939949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982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31" r:id="rId2"/>
    <p:sldLayoutId id="2147483732" r:id="rId3"/>
    <p:sldLayoutId id="2147483735" r:id="rId4"/>
  </p:sldLayoutIdLst>
  <p:txStyles>
    <p:titleStyle>
      <a:lvl1pPr algn="ctr" defTabSz="914413" rtl="0" eaLnBrk="1" latinLnBrk="1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4" indent="-342904" algn="l" defTabSz="914413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1" indent="-285754" algn="l" defTabSz="914413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3" algn="l" defTabSz="914413" rtl="0" eaLnBrk="1" latinLnBrk="1" hangingPunct="1">
        <a:spcBef>
          <a:spcPct val="20000"/>
        </a:spcBef>
        <a:buFont typeface="Arial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3" algn="l" defTabSz="914413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8" indent="-228603" algn="l" defTabSz="914413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4" indent="-228603" algn="l" defTabSz="91441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0" indent="-228603" algn="l" defTabSz="91441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7" indent="-228603" algn="l" defTabSz="91441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53" indent="-228603" algn="l" defTabSz="91441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3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0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6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3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7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4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0" algn="l" defTabSz="91441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ybatis.org/mybatis-3/" TargetMode="External"/><Relationship Id="rId3" Type="http://schemas.openxmlformats.org/officeDocument/2006/relationships/hyperlink" Target="https://www.azul.com/" TargetMode="External"/><Relationship Id="rId7" Type="http://schemas.openxmlformats.org/officeDocument/2006/relationships/hyperlink" Target="https://spring.io/projects/spring-framewor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auisoft.net/demo/auigrid/index.html" TargetMode="External"/><Relationship Id="rId5" Type="http://schemas.openxmlformats.org/officeDocument/2006/relationships/hyperlink" Target="https://tomcat.apache.org/" TargetMode="External"/><Relationship Id="rId4" Type="http://schemas.openxmlformats.org/officeDocument/2006/relationships/hyperlink" Target="https://www.postgresql.org/" TargetMode="External"/><Relationship Id="rId9" Type="http://schemas.openxmlformats.org/officeDocument/2006/relationships/hyperlink" Target="https://vuej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192628"/>
              </p:ext>
            </p:extLst>
          </p:nvPr>
        </p:nvGraphicFramePr>
        <p:xfrm>
          <a:off x="5508997" y="3861048"/>
          <a:ext cx="3528768" cy="11570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3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31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046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단위프로세스명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SD.311-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시스템구성도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1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    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Version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313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2026. 01. 01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755766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612453" y="3717032"/>
            <a:ext cx="8604956" cy="45719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1" rIns="82801" rtlCol="0" anchor="ctr"/>
          <a:lstStyle/>
          <a:p>
            <a:pPr algn="ctr"/>
            <a:endParaRPr lang="ko-KR" altLang="en-US" sz="701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41145" y="3144664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시스템 구성도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8651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858666"/>
              </p:ext>
            </p:extLst>
          </p:nvPr>
        </p:nvGraphicFramePr>
        <p:xfrm>
          <a:off x="343976" y="908725"/>
          <a:ext cx="9033564" cy="43200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8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1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시스템구성도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변경사유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¹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내용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²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승인자</a:t>
                      </a: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2026.01.01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최초작성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이택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7219" marR="9721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179353" y="548680"/>
            <a:ext cx="3547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763373" y="548680"/>
            <a:ext cx="665404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630394" y="430441"/>
            <a:ext cx="1927291" cy="243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57" b="1">
                <a:solidFill>
                  <a:schemeClr val="tx1"/>
                </a:solidFill>
              </a:rPr>
              <a:t>시스템 </a:t>
            </a:r>
            <a:r>
              <a:rPr lang="ko-KR" altLang="en-US" sz="957" b="1" smtClean="0">
                <a:solidFill>
                  <a:schemeClr val="tx1"/>
                </a:solidFill>
              </a:rPr>
              <a:t>구성도</a:t>
            </a:r>
            <a:r>
              <a:rPr lang="en-US" altLang="ko-KR" sz="957" b="1" smtClean="0">
                <a:solidFill>
                  <a:schemeClr val="tx1"/>
                </a:solidFill>
              </a:rPr>
              <a:t>(H/W)</a:t>
            </a:r>
            <a:endParaRPr lang="ko-KR" altLang="en-US" sz="957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7" y="1124744"/>
            <a:ext cx="9498159" cy="49371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973" y="3220803"/>
            <a:ext cx="294195" cy="31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8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179353" y="548680"/>
            <a:ext cx="3547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763373" y="548680"/>
            <a:ext cx="665404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630394" y="430441"/>
            <a:ext cx="1927291" cy="243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57" b="1" dirty="0">
                <a:solidFill>
                  <a:schemeClr val="tx1"/>
                </a:solidFill>
              </a:rPr>
              <a:t>시스템 </a:t>
            </a:r>
            <a:r>
              <a:rPr lang="ko-KR" altLang="en-US" sz="957" b="1" dirty="0" smtClean="0">
                <a:solidFill>
                  <a:schemeClr val="tx1"/>
                </a:solidFill>
              </a:rPr>
              <a:t>구성도</a:t>
            </a:r>
            <a:r>
              <a:rPr lang="en-US" altLang="ko-KR" sz="957" b="1" dirty="0" smtClean="0">
                <a:solidFill>
                  <a:schemeClr val="tx1"/>
                </a:solidFill>
              </a:rPr>
              <a:t>(S/W)</a:t>
            </a:r>
            <a:endParaRPr lang="ko-KR" altLang="en-US" sz="957" b="1" dirty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65" y="872716"/>
            <a:ext cx="7990661" cy="561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9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179353" y="548680"/>
            <a:ext cx="3547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763373" y="548680"/>
            <a:ext cx="665404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630394" y="430441"/>
            <a:ext cx="1927291" cy="243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57" b="1" dirty="0">
                <a:solidFill>
                  <a:schemeClr val="tx1"/>
                </a:solidFill>
              </a:rPr>
              <a:t>시스템 </a:t>
            </a:r>
            <a:r>
              <a:rPr lang="ko-KR" altLang="en-US" sz="957" b="1" dirty="0" smtClean="0">
                <a:solidFill>
                  <a:schemeClr val="tx1"/>
                </a:solidFill>
              </a:rPr>
              <a:t>목록</a:t>
            </a:r>
            <a:endParaRPr lang="ko-KR" altLang="en-US" sz="957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2306" y="908720"/>
            <a:ext cx="5763116" cy="369332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pPr algn="dist"/>
            <a:r>
              <a:rPr lang="ko-KR" altLang="en-US" dirty="0" smtClean="0"/>
              <a:t>시스템구축시 필요한 </a:t>
            </a:r>
            <a:r>
              <a:rPr lang="ko-KR" altLang="en-US" dirty="0" err="1" smtClean="0"/>
              <a:t>Ｈ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Ｗ의</a:t>
            </a:r>
            <a:r>
              <a:rPr lang="ko-KR" altLang="en-US" dirty="0" smtClean="0"/>
              <a:t> 정보는 아래와 같습니다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224992"/>
              </p:ext>
            </p:extLst>
          </p:nvPr>
        </p:nvGraphicFramePr>
        <p:xfrm>
          <a:off x="534156" y="1376772"/>
          <a:ext cx="8683254" cy="402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4014">
                  <a:extLst>
                    <a:ext uri="{9D8B030D-6E8A-4147-A177-3AD203B41FA5}">
                      <a16:colId xmlns:a16="http://schemas.microsoft.com/office/drawing/2014/main" val="3138225757"/>
                    </a:ext>
                  </a:extLst>
                </a:gridCol>
                <a:gridCol w="1154014">
                  <a:extLst>
                    <a:ext uri="{9D8B030D-6E8A-4147-A177-3AD203B41FA5}">
                      <a16:colId xmlns:a16="http://schemas.microsoft.com/office/drawing/2014/main" val="1735368552"/>
                    </a:ext>
                  </a:extLst>
                </a:gridCol>
                <a:gridCol w="1154014">
                  <a:extLst>
                    <a:ext uri="{9D8B030D-6E8A-4147-A177-3AD203B41FA5}">
                      <a16:colId xmlns:a16="http://schemas.microsoft.com/office/drawing/2014/main" val="540056186"/>
                    </a:ext>
                  </a:extLst>
                </a:gridCol>
                <a:gridCol w="1692819">
                  <a:extLst>
                    <a:ext uri="{9D8B030D-6E8A-4147-A177-3AD203B41FA5}">
                      <a16:colId xmlns:a16="http://schemas.microsoft.com/office/drawing/2014/main" val="1904468703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1433261986"/>
                    </a:ext>
                  </a:extLst>
                </a:gridCol>
                <a:gridCol w="914627">
                  <a:extLst>
                    <a:ext uri="{9D8B030D-6E8A-4147-A177-3AD203B41FA5}">
                      <a16:colId xmlns:a16="http://schemas.microsoft.com/office/drawing/2014/main" val="3051168756"/>
                    </a:ext>
                  </a:extLst>
                </a:gridCol>
                <a:gridCol w="1857682">
                  <a:extLst>
                    <a:ext uri="{9D8B030D-6E8A-4147-A177-3AD203B41FA5}">
                      <a16:colId xmlns:a16="http://schemas.microsoft.com/office/drawing/2014/main" val="2295700339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physical server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domain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logical server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prefix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691428"/>
                  </a:ext>
                </a:extLst>
              </a:tr>
              <a:tr h="4025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PS1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WEB </a:t>
                      </a:r>
                      <a:r>
                        <a:rPr lang="en-US" altLang="ko-KR" sz="1100" u="none" strike="noStrike" dirty="0" smtClean="0">
                          <a:effectLst/>
                        </a:rPr>
                        <a:t>WAS Server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80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</a:rPr>
                        <a:t>/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Tomcat context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1575956"/>
                  </a:ext>
                </a:extLst>
              </a:tr>
              <a:tr h="8051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File Server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/resources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Tomcat Resources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#2 file path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5941812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PS2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DB Server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effectLst/>
                        </a:rPr>
                        <a:t>15432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13184703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PS3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ERP Server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648927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PS4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HR 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27755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PS5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r>
                        <a:rPr lang="ko-KR" altLang="en-US" sz="11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고객사정의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CMS 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3505060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Client1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8487395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Client2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79966916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588603" y="5950664"/>
            <a:ext cx="5562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#2 D:\WEB-BASE\oms-be-resources\kyochonFile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88603" y="5492822"/>
            <a:ext cx="2490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#1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PS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physical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server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12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179353" y="548680"/>
            <a:ext cx="3547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763373" y="548680"/>
            <a:ext cx="665404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630394" y="430441"/>
            <a:ext cx="1927291" cy="243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57" b="1" dirty="0" smtClean="0">
                <a:solidFill>
                  <a:schemeClr val="tx1"/>
                </a:solidFill>
              </a:rPr>
              <a:t>설치 </a:t>
            </a:r>
            <a:r>
              <a:rPr lang="en-US" altLang="ko-KR" sz="957" b="1" dirty="0" smtClean="0">
                <a:solidFill>
                  <a:schemeClr val="tx1"/>
                </a:solidFill>
              </a:rPr>
              <a:t>S/W</a:t>
            </a:r>
            <a:r>
              <a:rPr lang="ko-KR" altLang="en-US" sz="957" b="1" dirty="0" smtClean="0">
                <a:solidFill>
                  <a:schemeClr val="tx1"/>
                </a:solidFill>
              </a:rPr>
              <a:t> 목록</a:t>
            </a:r>
            <a:endParaRPr lang="ko-KR" altLang="en-US" sz="957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720" y="875336"/>
            <a:ext cx="5763116" cy="369332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pPr algn="dist"/>
            <a:r>
              <a:rPr lang="ko-KR" altLang="en-US" dirty="0" smtClean="0"/>
              <a:t>시스템구축시 필요한 </a:t>
            </a:r>
            <a:r>
              <a:rPr lang="en-US" altLang="ko-KR" dirty="0"/>
              <a:t>S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Ｗ의</a:t>
            </a:r>
            <a:r>
              <a:rPr lang="ko-KR" altLang="en-US" dirty="0" smtClean="0"/>
              <a:t> 정보는 아래와 같습니다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88603" y="5950664"/>
            <a:ext cx="3958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/>
              <a:t>고객사</a:t>
            </a:r>
            <a:r>
              <a:rPr lang="ko-KR" altLang="en-US" dirty="0" smtClean="0"/>
              <a:t> 검토 후 변경 될 수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49230"/>
              </p:ext>
            </p:extLst>
          </p:nvPr>
        </p:nvGraphicFramePr>
        <p:xfrm>
          <a:off x="396431" y="1244663"/>
          <a:ext cx="8892986" cy="44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4522">
                  <a:extLst>
                    <a:ext uri="{9D8B030D-6E8A-4147-A177-3AD203B41FA5}">
                      <a16:colId xmlns:a16="http://schemas.microsoft.com/office/drawing/2014/main" val="3515439514"/>
                    </a:ext>
                  </a:extLst>
                </a:gridCol>
                <a:gridCol w="1083708">
                  <a:extLst>
                    <a:ext uri="{9D8B030D-6E8A-4147-A177-3AD203B41FA5}">
                      <a16:colId xmlns:a16="http://schemas.microsoft.com/office/drawing/2014/main" val="166189449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6817222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705554278"/>
                    </a:ext>
                  </a:extLst>
                </a:gridCol>
                <a:gridCol w="1686328">
                  <a:extLst>
                    <a:ext uri="{9D8B030D-6E8A-4147-A177-3AD203B41FA5}">
                      <a16:colId xmlns:a16="http://schemas.microsoft.com/office/drawing/2014/main" val="1142136025"/>
                    </a:ext>
                  </a:extLst>
                </a:gridCol>
                <a:gridCol w="1240882">
                  <a:extLst>
                    <a:ext uri="{9D8B030D-6E8A-4147-A177-3AD203B41FA5}">
                      <a16:colId xmlns:a16="http://schemas.microsoft.com/office/drawing/2014/main" val="2939083298"/>
                    </a:ext>
                  </a:extLst>
                </a:gridCol>
                <a:gridCol w="1861322">
                  <a:extLst>
                    <a:ext uri="{9D8B030D-6E8A-4147-A177-3AD203B41FA5}">
                      <a16:colId xmlns:a16="http://schemas.microsoft.com/office/drawing/2014/main" val="1120031728"/>
                    </a:ext>
                  </a:extLst>
                </a:gridCol>
              </a:tblGrid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</a:t>
                      </a: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사용범위</a:t>
                      </a: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오픈소스여부</a:t>
                      </a: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설치담당</a:t>
                      </a:r>
                      <a:endParaRPr lang="en-US" altLang="ko-KR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제조사</a:t>
                      </a: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</a:p>
                  </a:txBody>
                  <a:tcPr marL="6424" marR="6424" marT="6424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348307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13" rtl="0" eaLnBrk="1" fontAlgn="ctr" latinLnBrk="1" hangingPunct="1"/>
                      <a:r>
                        <a:rPr lang="ko-KR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개발언어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GPLv2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b="1" u="none" strike="noStrike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endParaRPr lang="en-US" sz="11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azul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jdk11.0.17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https://www.azul.com/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1528860007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 License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endParaRPr lang="en-US" altLang="ko-KR" sz="1100" b="1" u="none" strike="noStrike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PostgreSQL </a:t>
                      </a:r>
                      <a:endParaRPr lang="en-US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Global 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Development Group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https://www.postgresql.org/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3754837123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tomcat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WAS </a:t>
                      </a:r>
                      <a:endParaRPr lang="en-US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apache license 2.0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endParaRPr lang="en-US" altLang="ko-KR" sz="1100" b="1" u="none" strike="noStrike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Apache </a:t>
                      </a:r>
                      <a:endParaRPr lang="en-US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Foundation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apache-tomcat-9.0.91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https://tomcat.apache.org/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1650049372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AUIGrid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 Grid </a:t>
                      </a:r>
                      <a:endParaRPr lang="en-US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13" rtl="0" eaLnBrk="1" fontAlgn="ctr" latinLnBrk="1" hangingPunct="1"/>
                      <a:r>
                        <a:rPr lang="ko-KR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컴포넌트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상용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 </a:t>
                      </a:r>
                      <a:r>
                        <a:rPr lang="ko-KR" altLang="en-US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소스배포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AUISoft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AUIGrid 3.0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https://www.auisoft.net/demo/auigrid/index.html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4255909501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srping-framework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F/W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apache license 2.0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 </a:t>
                      </a:r>
                      <a:r>
                        <a:rPr lang="ko-KR" altLang="en-US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소스배포</a:t>
                      </a:r>
                      <a:endParaRPr lang="en-US" altLang="ko-KR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VMware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5.3.18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https://spring.io/projects/spring-framework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2556064802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spring-security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apache license 2.0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 </a:t>
                      </a:r>
                      <a:r>
                        <a:rPr lang="ko-KR" altLang="en-US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소스배포</a:t>
                      </a:r>
                      <a:endParaRPr lang="en-US" altLang="ko-KR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VMware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5.6.3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https://spring.io/projects/spring-framework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4188825301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mybatis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 F/W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apache license 2.0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 </a:t>
                      </a:r>
                      <a:r>
                        <a:rPr lang="ko-KR" altLang="en-US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소스배포</a:t>
                      </a:r>
                      <a:endParaRPr lang="en-US" altLang="ko-KR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MyBatis.org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3.5.7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https://mybatis.org/mybatis-3/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1539575795"/>
                  </a:ext>
                </a:extLst>
              </a:tr>
              <a:tr h="494732"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Vue 3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13" rtl="0" eaLnBrk="1" fontAlgn="ctr" latinLnBrk="1" hangingPunct="1"/>
                      <a:r>
                        <a:rPr lang="ko-KR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개발언어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 License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 </a:t>
                      </a:r>
                      <a:r>
                        <a:rPr lang="ko-KR" altLang="en-US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소스배포</a:t>
                      </a:r>
                      <a:endParaRPr lang="en-US" altLang="ko-KR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Evan You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ctr" defTabSz="914413" rtl="0" eaLnBrk="1" fontAlgn="ctr" latinLnBrk="1" hangingPunct="1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6424" marR="6424" marT="6424" marB="0" anchor="ctr"/>
                </a:tc>
                <a:tc>
                  <a:txBody>
                    <a:bodyPr/>
                    <a:lstStyle/>
                    <a:p>
                      <a:pPr marL="0" algn="l" defTabSz="914413" rtl="0" eaLnBrk="1" fontAlgn="ctr" latinLnBrk="1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https://vuejs.org/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4" marR="6424" marT="6424" marB="0" anchor="ctr"/>
                </a:tc>
                <a:extLst>
                  <a:ext uri="{0D108BD9-81ED-4DB2-BD59-A6C34878D82A}">
                    <a16:rowId xmlns:a16="http://schemas.microsoft.com/office/drawing/2014/main" val="1399159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15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 w="3175">
          <a:noFill/>
        </a:ln>
      </a:spPr>
      <a:bodyPr lIns="82801" rIns="82801" rtlCol="0" anchor="ctr"/>
      <a:lstStyle>
        <a:defPPr algn="ctr">
          <a:defRPr sz="701" b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112130</TotalTime>
  <Words>305</Words>
  <Application>Microsoft Office PowerPoint</Application>
  <PresentationFormat>사용자 지정</PresentationFormat>
  <Paragraphs>165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cwlee</dc:creator>
  <cp:lastModifiedBy>신현규</cp:lastModifiedBy>
  <cp:revision>6830</cp:revision>
  <cp:lastPrinted>2017-08-09T02:41:00Z</cp:lastPrinted>
  <dcterms:created xsi:type="dcterms:W3CDTF">2015-11-11T06:28:28Z</dcterms:created>
  <dcterms:modified xsi:type="dcterms:W3CDTF">2025-12-30T05:04:53Z</dcterms:modified>
</cp:coreProperties>
</file>