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9" r:id="rId1"/>
  </p:sldMasterIdLst>
  <p:notesMasterIdLst>
    <p:notesMasterId r:id="rId5"/>
  </p:notesMasterIdLst>
  <p:handoutMasterIdLst>
    <p:handoutMasterId r:id="rId6"/>
  </p:handoutMasterIdLst>
  <p:sldIdLst>
    <p:sldId id="698" r:id="rId2"/>
    <p:sldId id="700" r:id="rId3"/>
    <p:sldId id="702" r:id="rId4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orient="horz" pos="3385" userDrawn="1">
          <p15:clr>
            <a:srgbClr val="A4A3A4"/>
          </p15:clr>
        </p15:guide>
        <p15:guide id="3" orient="horz" pos="3929" userDrawn="1">
          <p15:clr>
            <a:srgbClr val="A4A3A4"/>
          </p15:clr>
        </p15:guide>
        <p15:guide id="4" orient="horz" pos="1797" userDrawn="1">
          <p15:clr>
            <a:srgbClr val="A4A3A4"/>
          </p15:clr>
        </p15:guide>
        <p15:guide id="5" pos="5476" userDrawn="1">
          <p15:clr>
            <a:srgbClr val="A4A3A4"/>
          </p15:clr>
        </p15:guide>
        <p15:guide id="6" pos="284" userDrawn="1">
          <p15:clr>
            <a:srgbClr val="A4A3A4"/>
          </p15:clr>
        </p15:guide>
        <p15:guide id="7" pos="48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B2D0"/>
    <a:srgbClr val="1DB5C9"/>
    <a:srgbClr val="7484D2"/>
    <a:srgbClr val="9AA4E2"/>
    <a:srgbClr val="C4EFF8"/>
    <a:srgbClr val="E4F8FC"/>
    <a:srgbClr val="EBEDF9"/>
    <a:srgbClr val="CCF1F8"/>
    <a:srgbClr val="DAF5FA"/>
    <a:srgbClr val="B9D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88" autoAdjust="0"/>
    <p:restoredTop sz="96404" autoAdjust="0"/>
  </p:normalViewPr>
  <p:slideViewPr>
    <p:cSldViewPr showGuides="1">
      <p:cViewPr varScale="1">
        <p:scale>
          <a:sx n="114" d="100"/>
          <a:sy n="114" d="100"/>
        </p:scale>
        <p:origin x="3828" y="102"/>
      </p:cViewPr>
      <p:guideLst>
        <p:guide orient="horz" pos="1026"/>
        <p:guide orient="horz" pos="3385"/>
        <p:guide orient="horz" pos="3929"/>
        <p:guide orient="horz" pos="1797"/>
        <p:guide pos="5476"/>
        <p:guide pos="284"/>
        <p:guide pos="48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576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CCEEA-2AA5-4560-A3EF-4DE544840B49}" type="datetimeFigureOut">
              <a:rPr lang="ko-KR" altLang="en-US"/>
              <a:pPr>
                <a:defRPr/>
              </a:pPr>
              <a:t>2026-02-09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F293CCE-7A9B-4B69-9E1D-C86B2704FFB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9092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7A881E9-4E00-4240-BE3A-8551098E09E8}" type="datetimeFigureOut">
              <a:rPr lang="ko-KR" altLang="en-US"/>
              <a:pPr>
                <a:defRPr/>
              </a:pPr>
              <a:t>2026-02-09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5BDB6D4-885E-4F8A-B43D-70E69AB9EFB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7039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하단글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 userDrawn="1"/>
        </p:nvSpPr>
        <p:spPr bwMode="auto">
          <a:xfrm>
            <a:off x="0" y="0"/>
            <a:ext cx="9144000" cy="576000"/>
          </a:xfrm>
          <a:prstGeom prst="rect">
            <a:avLst/>
          </a:prstGeom>
          <a:solidFill>
            <a:srgbClr val="1AB2D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제목 1"/>
          <p:cNvSpPr>
            <a:spLocks noGrp="1"/>
          </p:cNvSpPr>
          <p:nvPr>
            <p:ph type="title"/>
          </p:nvPr>
        </p:nvSpPr>
        <p:spPr>
          <a:xfrm>
            <a:off x="176139" y="125985"/>
            <a:ext cx="8535171" cy="28803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700" b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dirty="0"/>
          </a:p>
        </p:txBody>
      </p:sp>
      <p:sp>
        <p:nvSpPr>
          <p:cNvPr id="19" name="내용 개체 틀 2"/>
          <p:cNvSpPr>
            <a:spLocks noGrp="1"/>
          </p:cNvSpPr>
          <p:nvPr>
            <p:ph idx="1" hasCustomPrompt="1"/>
          </p:nvPr>
        </p:nvSpPr>
        <p:spPr>
          <a:xfrm>
            <a:off x="304414" y="838200"/>
            <a:ext cx="8535171" cy="358552"/>
          </a:xfrm>
          <a:prstGeom prst="rect">
            <a:avLst/>
          </a:prstGeom>
        </p:spPr>
        <p:txBody>
          <a:bodyPr/>
          <a:lstStyle>
            <a:lvl1pPr marL="34290" indent="0">
              <a:lnSpc>
                <a:spcPct val="100000"/>
              </a:lnSpc>
              <a:buNone/>
              <a:defRPr sz="1400" b="0">
                <a:solidFill>
                  <a:srgbClr val="1AB2D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274320" indent="0">
              <a:lnSpc>
                <a:spcPct val="100000"/>
              </a:lnSpc>
              <a:buNone/>
              <a:defRPr sz="900"/>
            </a:lvl2pPr>
            <a:lvl3pPr marL="445770" indent="0">
              <a:lnSpc>
                <a:spcPct val="100000"/>
              </a:lnSpc>
              <a:buNone/>
              <a:defRPr sz="825"/>
            </a:lvl3pPr>
            <a:lvl4pPr marL="582930" indent="0">
              <a:lnSpc>
                <a:spcPct val="100000"/>
              </a:lnSpc>
              <a:buNone/>
              <a:defRPr sz="788"/>
            </a:lvl4pPr>
            <a:lvl5pPr marL="720090" indent="0">
              <a:lnSpc>
                <a:spcPct val="100000"/>
              </a:lnSpc>
              <a:buNone/>
              <a:defRPr sz="788"/>
            </a:lvl5pPr>
          </a:lstStyle>
          <a:p>
            <a:pPr lvl="0" latinLnBrk="1"/>
            <a:r>
              <a:rPr lang="ko-KR" altLang="en-US" dirty="0" smtClean="0"/>
              <a:t>마스터 텍스트 스타일을 편집합니다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5" name="슬라이드 번호 개체 틀 5"/>
          <p:cNvSpPr txBox="1">
            <a:spLocks/>
          </p:cNvSpPr>
          <p:nvPr userDrawn="1"/>
        </p:nvSpPr>
        <p:spPr>
          <a:xfrm>
            <a:off x="4517498" y="6622176"/>
            <a:ext cx="109004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A964345-8254-4568-8A3F-D2A8C26F6F41}" type="slidenum">
              <a:rPr lang="ko-KR" altLang="en-US" sz="7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 algn="ctr"/>
              <a:t>‹#›</a:t>
            </a:fld>
            <a:endParaRPr lang="ko-KR" altLang="en-US" sz="700" b="1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8501198" y="154233"/>
            <a:ext cx="502061" cy="246221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US" altLang="ko-KR" sz="1000">
                <a:solidFill>
                  <a:srgbClr val="C4EFF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TSPG</a:t>
            </a:r>
            <a:endParaRPr lang="en-US" altLang="ko-KR" sz="1000" dirty="0">
              <a:solidFill>
                <a:srgbClr val="C4EFF8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555" y="139549"/>
            <a:ext cx="469105" cy="195828"/>
          </a:xfrm>
          <a:prstGeom prst="rect">
            <a:avLst/>
          </a:prstGeom>
        </p:spPr>
      </p:pic>
      <p:cxnSp>
        <p:nvCxnSpPr>
          <p:cNvPr id="11" name="직선 연결선 10"/>
          <p:cNvCxnSpPr/>
          <p:nvPr userDrawn="1"/>
        </p:nvCxnSpPr>
        <p:spPr>
          <a:xfrm>
            <a:off x="8522108" y="226130"/>
            <a:ext cx="0" cy="108000"/>
          </a:xfrm>
          <a:prstGeom prst="line">
            <a:avLst/>
          </a:prstGeom>
          <a:ln w="127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4060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글전체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 bwMode="auto">
          <a:xfrm>
            <a:off x="0" y="0"/>
            <a:ext cx="9144000" cy="576000"/>
          </a:xfrm>
          <a:prstGeom prst="rect">
            <a:avLst/>
          </a:prstGeom>
          <a:solidFill>
            <a:srgbClr val="1AB2D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제목 1"/>
          <p:cNvSpPr>
            <a:spLocks noGrp="1"/>
          </p:cNvSpPr>
          <p:nvPr>
            <p:ph type="title"/>
          </p:nvPr>
        </p:nvSpPr>
        <p:spPr>
          <a:xfrm>
            <a:off x="176139" y="125985"/>
            <a:ext cx="8535171" cy="28803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700" b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dirty="0"/>
          </a:p>
        </p:txBody>
      </p:sp>
      <p:sp>
        <p:nvSpPr>
          <p:cNvPr id="25" name="슬라이드 번호 개체 틀 5"/>
          <p:cNvSpPr txBox="1">
            <a:spLocks/>
          </p:cNvSpPr>
          <p:nvPr userDrawn="1"/>
        </p:nvSpPr>
        <p:spPr>
          <a:xfrm>
            <a:off x="4517498" y="6622176"/>
            <a:ext cx="109004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A964345-8254-4568-8A3F-D2A8C26F6F41}" type="slidenum">
              <a:rPr lang="ko-KR" altLang="en-US" sz="7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 algn="ctr"/>
              <a:t>‹#›</a:t>
            </a:fld>
            <a:endParaRPr lang="ko-KR" altLang="en-US" sz="700" b="1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8501198" y="154233"/>
            <a:ext cx="502061" cy="246221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US" altLang="ko-KR" sz="1000">
                <a:solidFill>
                  <a:srgbClr val="C4EFF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TSPG</a:t>
            </a:r>
            <a:endParaRPr lang="en-US" altLang="ko-KR" sz="1000" dirty="0">
              <a:solidFill>
                <a:srgbClr val="C4EFF8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555" y="139549"/>
            <a:ext cx="469105" cy="195828"/>
          </a:xfrm>
          <a:prstGeom prst="rect">
            <a:avLst/>
          </a:prstGeom>
        </p:spPr>
      </p:pic>
      <p:cxnSp>
        <p:nvCxnSpPr>
          <p:cNvPr id="10" name="직선 연결선 9"/>
          <p:cNvCxnSpPr/>
          <p:nvPr userDrawn="1"/>
        </p:nvCxnSpPr>
        <p:spPr>
          <a:xfrm>
            <a:off x="8522108" y="226130"/>
            <a:ext cx="0" cy="108000"/>
          </a:xfrm>
          <a:prstGeom prst="line">
            <a:avLst/>
          </a:prstGeom>
          <a:ln w="127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89801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무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49" r:id="rId3"/>
  </p:sldLayoutIdLst>
  <p:hf sldNum="0"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422041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844083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266124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1688165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16531" indent="-316531" algn="l" rtl="0" fontAlgn="base" latinLnBrk="1">
        <a:spcBef>
          <a:spcPct val="20000"/>
        </a:spcBef>
        <a:spcAft>
          <a:spcPct val="0"/>
        </a:spcAft>
        <a:buFont typeface="Arial" charset="0"/>
        <a:buChar char="•"/>
        <a:defRPr kumimoji="1"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fontAlgn="base" latinLnBrk="1">
        <a:spcBef>
          <a:spcPct val="20000"/>
        </a:spcBef>
        <a:spcAft>
          <a:spcPct val="0"/>
        </a:spcAft>
        <a:buFont typeface="Arial" charset="0"/>
        <a:buChar char="–"/>
        <a:defRPr kumimoji="1" sz="2585">
          <a:solidFill>
            <a:schemeClr val="tx1"/>
          </a:solidFill>
          <a:latin typeface="+mn-lt"/>
          <a:ea typeface="+mn-ea"/>
        </a:defRPr>
      </a:lvl2pPr>
      <a:lvl3pPr marL="1055103" indent="-211021" algn="l" rtl="0" fontAlgn="base" latinLnBrk="1">
        <a:spcBef>
          <a:spcPct val="20000"/>
        </a:spcBef>
        <a:spcAft>
          <a:spcPct val="0"/>
        </a:spcAft>
        <a:buFont typeface="Arial" charset="0"/>
        <a:buChar char="•"/>
        <a:defRPr kumimoji="1" sz="2215">
          <a:solidFill>
            <a:schemeClr val="tx1"/>
          </a:solidFill>
          <a:latin typeface="+mn-lt"/>
          <a:ea typeface="+mn-ea"/>
        </a:defRPr>
      </a:lvl3pPr>
      <a:lvl4pPr marL="1477145" indent="-211021" algn="l" rtl="0" fontAlgn="base" latinLnBrk="1">
        <a:spcBef>
          <a:spcPct val="20000"/>
        </a:spcBef>
        <a:spcAft>
          <a:spcPct val="0"/>
        </a:spcAft>
        <a:buFont typeface="Arial" charset="0"/>
        <a:buChar char="–"/>
        <a:defRPr kumimoji="1" sz="1846">
          <a:solidFill>
            <a:schemeClr val="tx1"/>
          </a:solidFill>
          <a:latin typeface="+mn-lt"/>
          <a:ea typeface="+mn-ea"/>
        </a:defRPr>
      </a:lvl4pPr>
      <a:lvl5pPr marL="1899186" indent="-211021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kumimoji="1" sz="1846">
          <a:solidFill>
            <a:schemeClr val="tx1"/>
          </a:solidFill>
          <a:latin typeface="+mn-lt"/>
          <a:ea typeface="+mn-ea"/>
        </a:defRPr>
      </a:lvl5pPr>
      <a:lvl6pPr marL="2321227" indent="-211021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kumimoji="1" sz="1846">
          <a:solidFill>
            <a:schemeClr val="tx1"/>
          </a:solidFill>
          <a:latin typeface="+mn-lt"/>
          <a:ea typeface="+mn-ea"/>
        </a:defRPr>
      </a:lvl6pPr>
      <a:lvl7pPr marL="2743269" indent="-211021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kumimoji="1" sz="1846">
          <a:solidFill>
            <a:schemeClr val="tx1"/>
          </a:solidFill>
          <a:latin typeface="+mn-lt"/>
          <a:ea typeface="+mn-ea"/>
        </a:defRPr>
      </a:lvl7pPr>
      <a:lvl8pPr marL="3165310" indent="-211021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kumimoji="1" sz="1846">
          <a:solidFill>
            <a:schemeClr val="tx1"/>
          </a:solidFill>
          <a:latin typeface="+mn-lt"/>
          <a:ea typeface="+mn-ea"/>
        </a:defRPr>
      </a:lvl8pPr>
      <a:lvl9pPr marL="3587351" indent="-211021" algn="l" rtl="0" fontAlgn="base" latinLnBrk="1">
        <a:spcBef>
          <a:spcPct val="20000"/>
        </a:spcBef>
        <a:spcAft>
          <a:spcPct val="0"/>
        </a:spcAft>
        <a:buFont typeface="Arial" charset="0"/>
        <a:buChar char="»"/>
        <a:defRPr kumimoji="1"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3.png"/><Relationship Id="rId18" Type="http://schemas.openxmlformats.org/officeDocument/2006/relationships/image" Target="../media/image18.emf"/><Relationship Id="rId3" Type="http://schemas.openxmlformats.org/officeDocument/2006/relationships/image" Target="../media/image3.png"/><Relationship Id="rId7" Type="http://schemas.openxmlformats.org/officeDocument/2006/relationships/image" Target="../media/image7.emf"/><Relationship Id="rId12" Type="http://schemas.openxmlformats.org/officeDocument/2006/relationships/image" Target="../media/image12.emf"/><Relationship Id="rId17" Type="http://schemas.openxmlformats.org/officeDocument/2006/relationships/image" Target="../media/image17.emf"/><Relationship Id="rId2" Type="http://schemas.openxmlformats.org/officeDocument/2006/relationships/image" Target="../media/image2.emf"/><Relationship Id="rId16" Type="http://schemas.openxmlformats.org/officeDocument/2006/relationships/image" Target="../media/image1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11.emf"/><Relationship Id="rId5" Type="http://schemas.openxmlformats.org/officeDocument/2006/relationships/image" Target="../media/image5.png"/><Relationship Id="rId15" Type="http://schemas.openxmlformats.org/officeDocument/2006/relationships/image" Target="../media/image15.emf"/><Relationship Id="rId10" Type="http://schemas.openxmlformats.org/officeDocument/2006/relationships/image" Target="../media/image10.emf"/><Relationship Id="rId4" Type="http://schemas.openxmlformats.org/officeDocument/2006/relationships/image" Target="../media/image4.png"/><Relationship Id="rId9" Type="http://schemas.openxmlformats.org/officeDocument/2006/relationships/image" Target="../media/image9.emf"/><Relationship Id="rId14" Type="http://schemas.openxmlformats.org/officeDocument/2006/relationships/image" Target="../media/image14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13" Type="http://schemas.openxmlformats.org/officeDocument/2006/relationships/image" Target="../media/image26.emf"/><Relationship Id="rId18" Type="http://schemas.openxmlformats.org/officeDocument/2006/relationships/image" Target="../media/image31.emf"/><Relationship Id="rId3" Type="http://schemas.openxmlformats.org/officeDocument/2006/relationships/image" Target="../media/image4.png"/><Relationship Id="rId7" Type="http://schemas.openxmlformats.org/officeDocument/2006/relationships/image" Target="../media/image20.emf"/><Relationship Id="rId12" Type="http://schemas.openxmlformats.org/officeDocument/2006/relationships/image" Target="../media/image25.emf"/><Relationship Id="rId17" Type="http://schemas.openxmlformats.org/officeDocument/2006/relationships/image" Target="../media/image30.emf"/><Relationship Id="rId2" Type="http://schemas.openxmlformats.org/officeDocument/2006/relationships/image" Target="../media/image3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emf"/><Relationship Id="rId11" Type="http://schemas.openxmlformats.org/officeDocument/2006/relationships/image" Target="../media/image24.emf"/><Relationship Id="rId5" Type="http://schemas.openxmlformats.org/officeDocument/2006/relationships/image" Target="../media/image2.emf"/><Relationship Id="rId15" Type="http://schemas.openxmlformats.org/officeDocument/2006/relationships/image" Target="../media/image28.emf"/><Relationship Id="rId10" Type="http://schemas.openxmlformats.org/officeDocument/2006/relationships/image" Target="../media/image23.emf"/><Relationship Id="rId4" Type="http://schemas.openxmlformats.org/officeDocument/2006/relationships/image" Target="../media/image5.png"/><Relationship Id="rId9" Type="http://schemas.openxmlformats.org/officeDocument/2006/relationships/image" Target="../media/image22.emf"/><Relationship Id="rId14" Type="http://schemas.openxmlformats.org/officeDocument/2006/relationships/image" Target="../media/image2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4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3.png"/><Relationship Id="rId16" Type="http://schemas.openxmlformats.org/officeDocument/2006/relationships/image" Target="../media/image43.jpe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10" Type="http://schemas.openxmlformats.org/officeDocument/2006/relationships/image" Target="../media/image37.jpeg"/><Relationship Id="rId19" Type="http://schemas.openxmlformats.org/officeDocument/2006/relationships/image" Target="../media/image46.png"/><Relationship Id="rId4" Type="http://schemas.openxmlformats.org/officeDocument/2006/relationships/image" Target="../media/image5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4"/>
          <p:cNvGrpSpPr>
            <a:grpSpLocks noChangeAspect="1"/>
          </p:cNvGrpSpPr>
          <p:nvPr/>
        </p:nvGrpSpPr>
        <p:grpSpPr bwMode="auto">
          <a:xfrm>
            <a:off x="683568" y="1965233"/>
            <a:ext cx="1791498" cy="1360280"/>
            <a:chOff x="268" y="1736"/>
            <a:chExt cx="1166" cy="2194"/>
          </a:xfrm>
        </p:grpSpPr>
        <p:sp>
          <p:nvSpPr>
            <p:cNvPr id="7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73" y="1736"/>
              <a:ext cx="1161" cy="2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Rectangle 5"/>
            <p:cNvSpPr>
              <a:spLocks noChangeArrowheads="1"/>
            </p:cNvSpPr>
            <p:nvPr/>
          </p:nvSpPr>
          <p:spPr bwMode="auto">
            <a:xfrm>
              <a:off x="277" y="1738"/>
              <a:ext cx="1148" cy="2188"/>
            </a:xfrm>
            <a:prstGeom prst="rect">
              <a:avLst/>
            </a:prstGeom>
            <a:solidFill>
              <a:srgbClr val="FDEBD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81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" y="1738"/>
              <a:ext cx="1147" cy="2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2" name="Rectangle 8"/>
            <p:cNvSpPr>
              <a:spLocks noChangeArrowheads="1"/>
            </p:cNvSpPr>
            <p:nvPr/>
          </p:nvSpPr>
          <p:spPr bwMode="auto">
            <a:xfrm>
              <a:off x="280" y="1739"/>
              <a:ext cx="1147" cy="2188"/>
            </a:xfrm>
            <a:prstGeom prst="rect">
              <a:avLst/>
            </a:prstGeom>
            <a:noFill/>
            <a:ln w="1588" cap="rnd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71" name="Group 4"/>
          <p:cNvGrpSpPr>
            <a:grpSpLocks noChangeAspect="1"/>
          </p:cNvGrpSpPr>
          <p:nvPr/>
        </p:nvGrpSpPr>
        <p:grpSpPr bwMode="auto">
          <a:xfrm>
            <a:off x="6435276" y="856457"/>
            <a:ext cx="2612380" cy="4876800"/>
            <a:chOff x="268" y="1736"/>
            <a:chExt cx="1166" cy="2194"/>
          </a:xfrm>
        </p:grpSpPr>
        <p:sp>
          <p:nvSpPr>
            <p:cNvPr id="72" name="AutoShape 3"/>
            <p:cNvSpPr>
              <a:spLocks noChangeAspect="1" noChangeArrowheads="1" noTextEdit="1"/>
            </p:cNvSpPr>
            <p:nvPr/>
          </p:nvSpPr>
          <p:spPr bwMode="auto">
            <a:xfrm>
              <a:off x="273" y="1736"/>
              <a:ext cx="1161" cy="2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Rectangle 5"/>
            <p:cNvSpPr>
              <a:spLocks noChangeArrowheads="1"/>
            </p:cNvSpPr>
            <p:nvPr/>
          </p:nvSpPr>
          <p:spPr bwMode="auto">
            <a:xfrm>
              <a:off x="277" y="1738"/>
              <a:ext cx="1148" cy="2188"/>
            </a:xfrm>
            <a:prstGeom prst="rect">
              <a:avLst/>
            </a:prstGeom>
            <a:solidFill>
              <a:srgbClr val="FDEBD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74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" y="1738"/>
              <a:ext cx="1147" cy="2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5" name="Rectangle 8"/>
            <p:cNvSpPr>
              <a:spLocks noChangeArrowheads="1"/>
            </p:cNvSpPr>
            <p:nvPr/>
          </p:nvSpPr>
          <p:spPr bwMode="auto">
            <a:xfrm>
              <a:off x="280" y="1739"/>
              <a:ext cx="1147" cy="2188"/>
            </a:xfrm>
            <a:prstGeom prst="rect">
              <a:avLst/>
            </a:prstGeom>
            <a:noFill/>
            <a:ln w="1588" cap="rnd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62" name="Group 4"/>
          <p:cNvGrpSpPr>
            <a:grpSpLocks noChangeAspect="1"/>
          </p:cNvGrpSpPr>
          <p:nvPr/>
        </p:nvGrpSpPr>
        <p:grpSpPr bwMode="auto">
          <a:xfrm>
            <a:off x="625239" y="3773435"/>
            <a:ext cx="3373049" cy="2589098"/>
            <a:chOff x="268" y="1736"/>
            <a:chExt cx="1166" cy="2194"/>
          </a:xfrm>
        </p:grpSpPr>
        <p:sp>
          <p:nvSpPr>
            <p:cNvPr id="63" name="AutoShape 3"/>
            <p:cNvSpPr>
              <a:spLocks noChangeAspect="1" noChangeArrowheads="1" noTextEdit="1"/>
            </p:cNvSpPr>
            <p:nvPr/>
          </p:nvSpPr>
          <p:spPr bwMode="auto">
            <a:xfrm>
              <a:off x="273" y="1736"/>
              <a:ext cx="1161" cy="2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Rectangle 5"/>
            <p:cNvSpPr>
              <a:spLocks noChangeArrowheads="1"/>
            </p:cNvSpPr>
            <p:nvPr/>
          </p:nvSpPr>
          <p:spPr bwMode="auto">
            <a:xfrm>
              <a:off x="277" y="1738"/>
              <a:ext cx="1148" cy="2188"/>
            </a:xfrm>
            <a:prstGeom prst="rect">
              <a:avLst/>
            </a:prstGeom>
            <a:solidFill>
              <a:srgbClr val="FDEBD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66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" y="1738"/>
              <a:ext cx="1147" cy="2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Rectangle 8"/>
            <p:cNvSpPr>
              <a:spLocks noChangeArrowheads="1"/>
            </p:cNvSpPr>
            <p:nvPr/>
          </p:nvSpPr>
          <p:spPr bwMode="auto">
            <a:xfrm>
              <a:off x="280" y="1739"/>
              <a:ext cx="1147" cy="2188"/>
            </a:xfrm>
            <a:prstGeom prst="rect">
              <a:avLst/>
            </a:prstGeom>
            <a:noFill/>
            <a:ln w="1588" cap="rnd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시스템</a:t>
            </a:r>
            <a:r>
              <a:rPr lang="en-US" altLang="ko-KR" dirty="0" smtClean="0"/>
              <a:t> </a:t>
            </a:r>
            <a:r>
              <a:rPr lang="ko-KR" altLang="en-US" dirty="0" smtClean="0"/>
              <a:t>아키텍처 </a:t>
            </a:r>
            <a:r>
              <a:rPr lang="en-US" altLang="ko-KR" dirty="0" smtClean="0"/>
              <a:t>(</a:t>
            </a:r>
            <a:r>
              <a:rPr lang="ko-KR" altLang="en-US" dirty="0" smtClean="0"/>
              <a:t>사용자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310" y="83817"/>
            <a:ext cx="1227346" cy="43942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-4594"/>
            <a:ext cx="1643008" cy="52787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654" y="6455618"/>
            <a:ext cx="1034658" cy="283468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889" y="2005744"/>
            <a:ext cx="1677124" cy="63116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8541" y="1106009"/>
            <a:ext cx="1027795" cy="472991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8224" y="2060848"/>
            <a:ext cx="827077" cy="576064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898" y="4130002"/>
            <a:ext cx="720080" cy="392453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584" y="4778998"/>
            <a:ext cx="504056" cy="659437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0958" y="5496155"/>
            <a:ext cx="700319" cy="700624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9912" y="6456402"/>
            <a:ext cx="359885" cy="36004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90392" y="4936442"/>
            <a:ext cx="579690" cy="545253"/>
          </a:xfrm>
          <a:prstGeom prst="rect">
            <a:avLst/>
          </a:prstGeom>
        </p:spPr>
      </p:pic>
      <p:cxnSp>
        <p:nvCxnSpPr>
          <p:cNvPr id="31" name="꺾인 연결선 30"/>
          <p:cNvCxnSpPr>
            <a:stCxn id="15" idx="3"/>
          </p:cNvCxnSpPr>
          <p:nvPr/>
        </p:nvCxnSpPr>
        <p:spPr bwMode="auto">
          <a:xfrm flipV="1">
            <a:off x="2441013" y="1232572"/>
            <a:ext cx="2073046" cy="1088756"/>
          </a:xfrm>
          <a:prstGeom prst="bentConnector3">
            <a:avLst>
              <a:gd name="adj1" fmla="val 17222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15" idx="3"/>
          </p:cNvCxnSpPr>
          <p:nvPr/>
        </p:nvCxnSpPr>
        <p:spPr bwMode="auto">
          <a:xfrm>
            <a:off x="2441013" y="2321328"/>
            <a:ext cx="2093648" cy="713681"/>
          </a:xfrm>
          <a:prstGeom prst="bentConnector3">
            <a:avLst>
              <a:gd name="adj1" fmla="val 16342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꺾인 연결선 40"/>
          <p:cNvCxnSpPr>
            <a:stCxn id="19" idx="3"/>
          </p:cNvCxnSpPr>
          <p:nvPr/>
        </p:nvCxnSpPr>
        <p:spPr bwMode="auto">
          <a:xfrm>
            <a:off x="1555978" y="4326229"/>
            <a:ext cx="2927284" cy="877786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꺾인 연결선 43"/>
          <p:cNvCxnSpPr/>
          <p:nvPr/>
        </p:nvCxnSpPr>
        <p:spPr bwMode="auto">
          <a:xfrm flipV="1">
            <a:off x="1871317" y="5204015"/>
            <a:ext cx="2611945" cy="804490"/>
          </a:xfrm>
          <a:prstGeom prst="bentConnector3">
            <a:avLst>
              <a:gd name="adj1" fmla="val 50807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 bwMode="auto">
          <a:xfrm>
            <a:off x="1602451" y="5204015"/>
            <a:ext cx="288081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117193" y="1187806"/>
            <a:ext cx="12802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wms.zin.co.kr</a:t>
            </a:r>
            <a:endParaRPr lang="ko-KR" altLang="en-US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2978495" y="2967606"/>
            <a:ext cx="1412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portal.wms.zin.co.kr</a:t>
            </a:r>
            <a:endParaRPr lang="ko-KR" altLang="en-US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4587875" y="548680"/>
            <a:ext cx="12802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WMS Service</a:t>
            </a:r>
            <a:endParaRPr lang="ko-KR" altLang="en-US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4572000" y="2348880"/>
            <a:ext cx="12802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WMS Portal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6216" y="878523"/>
            <a:ext cx="12802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Lazer</a:t>
            </a:r>
            <a:r>
              <a:rPr lang="en-US" altLang="ko-KR" dirty="0" smtClean="0"/>
              <a:t> Printer</a:t>
            </a:r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6516216" y="1814627"/>
            <a:ext cx="9402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Label Printer</a:t>
            </a:r>
            <a:endParaRPr lang="ko-KR" alt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2115026" y="4130002"/>
            <a:ext cx="1564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cell phone +Camera</a:t>
            </a:r>
            <a:endParaRPr lang="ko-KR" altLang="en-US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1707233" y="4877085"/>
            <a:ext cx="2163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cell phone </a:t>
            </a:r>
            <a:r>
              <a:rPr lang="en-US" altLang="ko-KR" b="1" dirty="0" smtClean="0"/>
              <a:t>+ Bluetooth Scanner</a:t>
            </a:r>
            <a:endParaRPr lang="ko-KR" altLang="en-US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1511277" y="5681982"/>
            <a:ext cx="18860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/>
              <a:t>Zebra PDA, </a:t>
            </a:r>
            <a:r>
              <a:rPr lang="en-US" altLang="ko-KR" b="1" dirty="0" err="1" smtClean="0"/>
              <a:t>HoneyWell</a:t>
            </a:r>
            <a:r>
              <a:rPr lang="en-US" altLang="ko-KR" b="1" dirty="0"/>
              <a:t> </a:t>
            </a:r>
            <a:r>
              <a:rPr lang="en-US" altLang="ko-KR" b="1" dirty="0" smtClean="0"/>
              <a:t>PDA</a:t>
            </a:r>
            <a:endParaRPr lang="en-US" altLang="ko-KR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4644007" y="4293096"/>
            <a:ext cx="1144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WMS APP</a:t>
            </a:r>
            <a:endParaRPr lang="ko-KR" altLang="en-US" b="1" dirty="0"/>
          </a:p>
        </p:txBody>
      </p:sp>
      <p:sp>
        <p:nvSpPr>
          <p:cNvPr id="70" name="TextBox 69"/>
          <p:cNvSpPr txBox="1"/>
          <p:nvPr/>
        </p:nvSpPr>
        <p:spPr>
          <a:xfrm>
            <a:off x="6481611" y="4540706"/>
            <a:ext cx="12802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Portable Printer</a:t>
            </a:r>
            <a:endParaRPr lang="ko-KR" altLang="en-US" dirty="0"/>
          </a:p>
        </p:txBody>
      </p:sp>
      <p:cxnSp>
        <p:nvCxnSpPr>
          <p:cNvPr id="36" name="직선 화살표 연결선 35"/>
          <p:cNvCxnSpPr>
            <a:endCxn id="26" idx="1"/>
          </p:cNvCxnSpPr>
          <p:nvPr/>
        </p:nvCxnSpPr>
        <p:spPr bwMode="auto">
          <a:xfrm>
            <a:off x="6263995" y="5204015"/>
            <a:ext cx="526397" cy="505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646865" y="1146810"/>
            <a:ext cx="14616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Location Label</a:t>
            </a:r>
          </a:p>
          <a:p>
            <a:r>
              <a:rPr lang="en-US" altLang="ko-KR" dirty="0"/>
              <a:t>Inbound </a:t>
            </a:r>
            <a:r>
              <a:rPr lang="en-US" altLang="ko-KR" dirty="0" smtClean="0"/>
              <a:t>Instruction</a:t>
            </a:r>
          </a:p>
          <a:p>
            <a:r>
              <a:rPr lang="en-US" altLang="ko-KR" dirty="0"/>
              <a:t>Outbound </a:t>
            </a:r>
            <a:r>
              <a:rPr lang="en-US" altLang="ko-KR" dirty="0" smtClean="0"/>
              <a:t>Instruction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7650818" y="2246675"/>
            <a:ext cx="12392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Box / Pallet Label</a:t>
            </a:r>
            <a:endParaRPr lang="ko-KR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472017" y="5041063"/>
            <a:ext cx="12392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Box / Pallet Label</a:t>
            </a:r>
            <a:endParaRPr lang="ko-KR" altLang="en-US" dirty="0"/>
          </a:p>
        </p:txBody>
      </p:sp>
      <p:cxnSp>
        <p:nvCxnSpPr>
          <p:cNvPr id="48" name="직선 화살표 연결선 47"/>
          <p:cNvCxnSpPr>
            <a:endCxn id="16" idx="1"/>
          </p:cNvCxnSpPr>
          <p:nvPr/>
        </p:nvCxnSpPr>
        <p:spPr bwMode="auto">
          <a:xfrm flipV="1">
            <a:off x="6228184" y="1342505"/>
            <a:ext cx="340357" cy="6652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>
            <a:endCxn id="17" idx="1"/>
          </p:cNvCxnSpPr>
          <p:nvPr/>
        </p:nvCxnSpPr>
        <p:spPr bwMode="auto">
          <a:xfrm>
            <a:off x="6228184" y="1409030"/>
            <a:ext cx="360040" cy="9398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63005" y="3508750"/>
            <a:ext cx="15042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barcode scan H/W</a:t>
            </a:r>
            <a:endParaRPr lang="ko-KR" alt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6385630" y="627254"/>
            <a:ext cx="15042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label output H/W</a:t>
            </a:r>
            <a:endParaRPr lang="ko-KR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4590515" y="3470276"/>
            <a:ext cx="2180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기능 </a:t>
            </a:r>
            <a:r>
              <a:rPr lang="en-US" altLang="ko-KR" b="1" dirty="0" smtClean="0"/>
              <a:t>: </a:t>
            </a:r>
            <a:r>
              <a:rPr lang="ko-KR" altLang="en-US" b="1" dirty="0" smtClean="0"/>
              <a:t>서비스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요금제</a:t>
            </a:r>
            <a:r>
              <a:rPr lang="en-US" altLang="ko-KR" b="1" dirty="0" smtClean="0"/>
              <a:t>, </a:t>
            </a:r>
          </a:p>
          <a:p>
            <a:r>
              <a:rPr lang="ko-KR" altLang="en-US" b="1" dirty="0" err="1" smtClean="0"/>
              <a:t>창고중계</a:t>
            </a:r>
            <a:r>
              <a:rPr lang="en-US" altLang="ko-KR" b="1" dirty="0" smtClean="0"/>
              <a:t>, </a:t>
            </a:r>
            <a:r>
              <a:rPr lang="ko-KR" altLang="en-US" b="1" dirty="0" err="1" smtClean="0"/>
              <a:t>메뉴얼</a:t>
            </a:r>
            <a:endParaRPr lang="ko-KR" altLang="en-US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645278" y="1723321"/>
            <a:ext cx="15042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User Terminal</a:t>
            </a:r>
            <a:endParaRPr lang="ko-KR" altLang="en-US" dirty="0"/>
          </a:p>
        </p:txBody>
      </p:sp>
      <p:grpSp>
        <p:nvGrpSpPr>
          <p:cNvPr id="94" name="그룹 93"/>
          <p:cNvGrpSpPr/>
          <p:nvPr/>
        </p:nvGrpSpPr>
        <p:grpSpPr>
          <a:xfrm>
            <a:off x="4501605" y="769938"/>
            <a:ext cx="1782349" cy="1279525"/>
            <a:chOff x="4501605" y="769938"/>
            <a:chExt cx="1782349" cy="1279525"/>
          </a:xfrm>
        </p:grpSpPr>
        <p:sp>
          <p:nvSpPr>
            <p:cNvPr id="35" name="TextBox 34"/>
            <p:cNvSpPr txBox="1"/>
            <p:nvPr/>
          </p:nvSpPr>
          <p:spPr>
            <a:xfrm>
              <a:off x="4501605" y="1755844"/>
              <a:ext cx="178234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/>
                <a:t>기능 </a:t>
              </a:r>
              <a:r>
                <a:rPr lang="en-US" altLang="ko-KR" b="1" dirty="0" smtClean="0"/>
                <a:t>: </a:t>
              </a:r>
              <a:r>
                <a:rPr lang="ko-KR" altLang="en-US" b="1" dirty="0" smtClean="0"/>
                <a:t>입고</a:t>
              </a:r>
              <a:r>
                <a:rPr lang="en-US" altLang="ko-KR" b="1" dirty="0" smtClean="0"/>
                <a:t>, </a:t>
              </a:r>
              <a:r>
                <a:rPr lang="ko-KR" altLang="en-US" b="1" dirty="0" smtClean="0"/>
                <a:t>출고</a:t>
              </a:r>
              <a:r>
                <a:rPr lang="en-US" altLang="ko-KR" b="1" dirty="0" smtClean="0"/>
                <a:t>, </a:t>
              </a:r>
              <a:r>
                <a:rPr lang="ko-KR" altLang="en-US" b="1" dirty="0" smtClean="0"/>
                <a:t>재고관리</a:t>
              </a:r>
              <a:endParaRPr lang="ko-KR" altLang="en-US" b="1" dirty="0"/>
            </a:p>
          </p:txBody>
        </p:sp>
        <p:grpSp>
          <p:nvGrpSpPr>
            <p:cNvPr id="83" name="Group 13"/>
            <p:cNvGrpSpPr>
              <a:grpSpLocks noChangeAspect="1"/>
            </p:cNvGrpSpPr>
            <p:nvPr/>
          </p:nvGrpSpPr>
          <p:grpSpPr bwMode="auto">
            <a:xfrm>
              <a:off x="4514850" y="769938"/>
              <a:ext cx="1712913" cy="1279525"/>
              <a:chOff x="2844" y="485"/>
              <a:chExt cx="1079" cy="806"/>
            </a:xfrm>
          </p:grpSpPr>
          <p:sp>
            <p:nvSpPr>
              <p:cNvPr id="85" name="AutoShape 12"/>
              <p:cNvSpPr>
                <a:spLocks noChangeAspect="1" noChangeArrowheads="1" noTextEdit="1"/>
              </p:cNvSpPr>
              <p:nvPr/>
            </p:nvSpPr>
            <p:spPr bwMode="auto">
              <a:xfrm>
                <a:off x="2844" y="485"/>
                <a:ext cx="1079" cy="8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pic>
            <p:nvPicPr>
              <p:cNvPr id="1038" name="Picture 14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4" y="527"/>
                <a:ext cx="927" cy="4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6" name="Freeform 15"/>
              <p:cNvSpPr>
                <a:spLocks/>
              </p:cNvSpPr>
              <p:nvPr/>
            </p:nvSpPr>
            <p:spPr bwMode="auto">
              <a:xfrm>
                <a:off x="2850" y="491"/>
                <a:ext cx="1067" cy="795"/>
              </a:xfrm>
              <a:custGeom>
                <a:avLst/>
                <a:gdLst>
                  <a:gd name="T0" fmla="*/ 4804 w 5106"/>
                  <a:gd name="T1" fmla="*/ 3780 h 3780"/>
                  <a:gd name="T2" fmla="*/ 5106 w 5106"/>
                  <a:gd name="T3" fmla="*/ 3477 h 3780"/>
                  <a:gd name="T4" fmla="*/ 5106 w 5106"/>
                  <a:gd name="T5" fmla="*/ 302 h 3780"/>
                  <a:gd name="T6" fmla="*/ 4804 w 5106"/>
                  <a:gd name="T7" fmla="*/ 0 h 3780"/>
                  <a:gd name="T8" fmla="*/ 4804 w 5106"/>
                  <a:gd name="T9" fmla="*/ 0 h 3780"/>
                  <a:gd name="T10" fmla="*/ 302 w 5106"/>
                  <a:gd name="T11" fmla="*/ 0 h 3780"/>
                  <a:gd name="T12" fmla="*/ 0 w 5106"/>
                  <a:gd name="T13" fmla="*/ 302 h 3780"/>
                  <a:gd name="T14" fmla="*/ 0 w 5106"/>
                  <a:gd name="T15" fmla="*/ 302 h 3780"/>
                  <a:gd name="T16" fmla="*/ 0 w 5106"/>
                  <a:gd name="T17" fmla="*/ 3477 h 3780"/>
                  <a:gd name="T18" fmla="*/ 302 w 5106"/>
                  <a:gd name="T19" fmla="*/ 3780 h 3780"/>
                  <a:gd name="T20" fmla="*/ 302 w 5106"/>
                  <a:gd name="T21" fmla="*/ 3780 h 3780"/>
                  <a:gd name="T22" fmla="*/ 4804 w 5106"/>
                  <a:gd name="T23" fmla="*/ 3780 h 3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106" h="3780">
                    <a:moveTo>
                      <a:pt x="4804" y="3780"/>
                    </a:moveTo>
                    <a:cubicBezTo>
                      <a:pt x="4971" y="3780"/>
                      <a:pt x="5106" y="3644"/>
                      <a:pt x="5106" y="3477"/>
                    </a:cubicBezTo>
                    <a:lnTo>
                      <a:pt x="5106" y="302"/>
                    </a:lnTo>
                    <a:cubicBezTo>
                      <a:pt x="5106" y="135"/>
                      <a:pt x="4971" y="0"/>
                      <a:pt x="4804" y="0"/>
                    </a:cubicBezTo>
                    <a:lnTo>
                      <a:pt x="4804" y="0"/>
                    </a:lnTo>
                    <a:lnTo>
                      <a:pt x="302" y="0"/>
                    </a:lnTo>
                    <a:cubicBezTo>
                      <a:pt x="135" y="0"/>
                      <a:pt x="0" y="135"/>
                      <a:pt x="0" y="302"/>
                    </a:cubicBezTo>
                    <a:lnTo>
                      <a:pt x="0" y="302"/>
                    </a:lnTo>
                    <a:lnTo>
                      <a:pt x="0" y="3477"/>
                    </a:lnTo>
                    <a:cubicBezTo>
                      <a:pt x="0" y="3644"/>
                      <a:pt x="135" y="3780"/>
                      <a:pt x="302" y="3780"/>
                    </a:cubicBezTo>
                    <a:lnTo>
                      <a:pt x="302" y="3780"/>
                    </a:lnTo>
                    <a:lnTo>
                      <a:pt x="4804" y="3780"/>
                    </a:lnTo>
                    <a:close/>
                  </a:path>
                </a:pathLst>
              </a:cu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8" name="Rectangle 23"/>
              <p:cNvSpPr>
                <a:spLocks noChangeArrowheads="1"/>
              </p:cNvSpPr>
              <p:nvPr/>
            </p:nvSpPr>
            <p:spPr bwMode="auto">
              <a:xfrm>
                <a:off x="2919" y="539"/>
                <a:ext cx="920" cy="496"/>
              </a:xfrm>
              <a:prstGeom prst="rect">
                <a:avLst/>
              </a:prstGeom>
              <a:noFill/>
              <a:ln w="15875" cap="rnd">
                <a:solidFill>
                  <a:srgbClr val="D5E2F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pSp>
        <p:nvGrpSpPr>
          <p:cNvPr id="89" name="Group 26"/>
          <p:cNvGrpSpPr>
            <a:grpSpLocks noChangeAspect="1"/>
          </p:cNvGrpSpPr>
          <p:nvPr/>
        </p:nvGrpSpPr>
        <p:grpSpPr bwMode="auto">
          <a:xfrm>
            <a:off x="4533900" y="2563813"/>
            <a:ext cx="1766888" cy="1295400"/>
            <a:chOff x="2856" y="1615"/>
            <a:chExt cx="1113" cy="816"/>
          </a:xfrm>
        </p:grpSpPr>
        <p:sp>
          <p:nvSpPr>
            <p:cNvPr id="90" name="AutoShape 25"/>
            <p:cNvSpPr>
              <a:spLocks noChangeAspect="1" noChangeArrowheads="1" noTextEdit="1"/>
            </p:cNvSpPr>
            <p:nvPr/>
          </p:nvSpPr>
          <p:spPr bwMode="auto">
            <a:xfrm>
              <a:off x="2856" y="1615"/>
              <a:ext cx="1113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Freeform 29"/>
            <p:cNvSpPr>
              <a:spLocks/>
            </p:cNvSpPr>
            <p:nvPr/>
          </p:nvSpPr>
          <p:spPr bwMode="auto">
            <a:xfrm>
              <a:off x="2862" y="1621"/>
              <a:ext cx="1101" cy="804"/>
            </a:xfrm>
            <a:custGeom>
              <a:avLst/>
              <a:gdLst>
                <a:gd name="T0" fmla="*/ 4804 w 5106"/>
                <a:gd name="T1" fmla="*/ 3719 h 3719"/>
                <a:gd name="T2" fmla="*/ 5106 w 5106"/>
                <a:gd name="T3" fmla="*/ 3417 h 3719"/>
                <a:gd name="T4" fmla="*/ 5106 w 5106"/>
                <a:gd name="T5" fmla="*/ 302 h 3719"/>
                <a:gd name="T6" fmla="*/ 4804 w 5106"/>
                <a:gd name="T7" fmla="*/ 0 h 3719"/>
                <a:gd name="T8" fmla="*/ 4804 w 5106"/>
                <a:gd name="T9" fmla="*/ 0 h 3719"/>
                <a:gd name="T10" fmla="*/ 302 w 5106"/>
                <a:gd name="T11" fmla="*/ 0 h 3719"/>
                <a:gd name="T12" fmla="*/ 0 w 5106"/>
                <a:gd name="T13" fmla="*/ 302 h 3719"/>
                <a:gd name="T14" fmla="*/ 0 w 5106"/>
                <a:gd name="T15" fmla="*/ 302 h 3719"/>
                <a:gd name="T16" fmla="*/ 0 w 5106"/>
                <a:gd name="T17" fmla="*/ 3417 h 3719"/>
                <a:gd name="T18" fmla="*/ 302 w 5106"/>
                <a:gd name="T19" fmla="*/ 3719 h 3719"/>
                <a:gd name="T20" fmla="*/ 302 w 5106"/>
                <a:gd name="T21" fmla="*/ 3719 h 3719"/>
                <a:gd name="T22" fmla="*/ 4804 w 5106"/>
                <a:gd name="T23" fmla="*/ 3719 h 3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106" h="3719">
                  <a:moveTo>
                    <a:pt x="4804" y="3719"/>
                  </a:moveTo>
                  <a:cubicBezTo>
                    <a:pt x="4971" y="3719"/>
                    <a:pt x="5106" y="3584"/>
                    <a:pt x="5106" y="3417"/>
                  </a:cubicBezTo>
                  <a:lnTo>
                    <a:pt x="5106" y="302"/>
                  </a:lnTo>
                  <a:cubicBezTo>
                    <a:pt x="5106" y="135"/>
                    <a:pt x="4971" y="0"/>
                    <a:pt x="4804" y="0"/>
                  </a:cubicBezTo>
                  <a:lnTo>
                    <a:pt x="4804" y="0"/>
                  </a:lnTo>
                  <a:lnTo>
                    <a:pt x="302" y="0"/>
                  </a:lnTo>
                  <a:cubicBezTo>
                    <a:pt x="135" y="0"/>
                    <a:pt x="0" y="135"/>
                    <a:pt x="0" y="302"/>
                  </a:cubicBezTo>
                  <a:lnTo>
                    <a:pt x="0" y="302"/>
                  </a:lnTo>
                  <a:lnTo>
                    <a:pt x="0" y="3417"/>
                  </a:lnTo>
                  <a:cubicBezTo>
                    <a:pt x="0" y="3584"/>
                    <a:pt x="135" y="3719"/>
                    <a:pt x="302" y="3719"/>
                  </a:cubicBezTo>
                  <a:lnTo>
                    <a:pt x="302" y="3719"/>
                  </a:lnTo>
                  <a:lnTo>
                    <a:pt x="4804" y="3719"/>
                  </a:lnTo>
                  <a:close/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1054" name="Picture 30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6" y="1667"/>
              <a:ext cx="590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5" name="Picture 31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" y="1902"/>
              <a:ext cx="611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" name="Rectangle 35"/>
            <p:cNvSpPr>
              <a:spLocks noChangeArrowheads="1"/>
            </p:cNvSpPr>
            <p:nvPr/>
          </p:nvSpPr>
          <p:spPr bwMode="auto">
            <a:xfrm>
              <a:off x="2939" y="1670"/>
              <a:ext cx="948" cy="510"/>
            </a:xfrm>
            <a:prstGeom prst="rect">
              <a:avLst/>
            </a:prstGeom>
            <a:noFill/>
            <a:ln w="15875" cap="rnd">
              <a:solidFill>
                <a:srgbClr val="D5E2F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1060" name="Picture 36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1" y="1688"/>
              <a:ext cx="47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3" name="TextBox 112"/>
          <p:cNvSpPr txBox="1"/>
          <p:nvPr/>
        </p:nvSpPr>
        <p:spPr>
          <a:xfrm>
            <a:off x="4463012" y="5842993"/>
            <a:ext cx="1412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com.zin.cloud.wms</a:t>
            </a:r>
            <a:endParaRPr lang="ko-KR" altLang="en-US" b="1" dirty="0"/>
          </a:p>
        </p:txBody>
      </p:sp>
      <p:pic>
        <p:nvPicPr>
          <p:cNvPr id="116" name="그림 11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1600" y="2624623"/>
            <a:ext cx="360040" cy="660361"/>
          </a:xfrm>
          <a:prstGeom prst="rect">
            <a:avLst/>
          </a:prstGeom>
        </p:spPr>
      </p:pic>
      <p:pic>
        <p:nvPicPr>
          <p:cNvPr id="117" name="그림 1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9017" y="2610443"/>
            <a:ext cx="700319" cy="700624"/>
          </a:xfrm>
          <a:prstGeom prst="rect">
            <a:avLst/>
          </a:prstGeom>
        </p:spPr>
      </p:pic>
      <p:sp>
        <p:nvSpPr>
          <p:cNvPr id="101" name="AutoShape 38"/>
          <p:cNvSpPr>
            <a:spLocks noChangeAspect="1" noChangeArrowheads="1" noTextEdit="1"/>
          </p:cNvSpPr>
          <p:nvPr/>
        </p:nvSpPr>
        <p:spPr bwMode="auto">
          <a:xfrm>
            <a:off x="4483100" y="4556125"/>
            <a:ext cx="17811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2" name="Freeform 40"/>
          <p:cNvSpPr>
            <a:spLocks/>
          </p:cNvSpPr>
          <p:nvPr/>
        </p:nvSpPr>
        <p:spPr bwMode="auto">
          <a:xfrm>
            <a:off x="4492625" y="4565650"/>
            <a:ext cx="1762125" cy="1276350"/>
          </a:xfrm>
          <a:custGeom>
            <a:avLst/>
            <a:gdLst>
              <a:gd name="T0" fmla="*/ 4804 w 5106"/>
              <a:gd name="T1" fmla="*/ 3689 h 3689"/>
              <a:gd name="T2" fmla="*/ 5106 w 5106"/>
              <a:gd name="T3" fmla="*/ 3386 h 3689"/>
              <a:gd name="T4" fmla="*/ 5106 w 5106"/>
              <a:gd name="T5" fmla="*/ 3386 h 3689"/>
              <a:gd name="T6" fmla="*/ 5106 w 5106"/>
              <a:gd name="T7" fmla="*/ 302 h 3689"/>
              <a:gd name="T8" fmla="*/ 4804 w 5106"/>
              <a:gd name="T9" fmla="*/ 0 h 3689"/>
              <a:gd name="T10" fmla="*/ 4804 w 5106"/>
              <a:gd name="T11" fmla="*/ 0 h 3689"/>
              <a:gd name="T12" fmla="*/ 302 w 5106"/>
              <a:gd name="T13" fmla="*/ 0 h 3689"/>
              <a:gd name="T14" fmla="*/ 0 w 5106"/>
              <a:gd name="T15" fmla="*/ 302 h 3689"/>
              <a:gd name="T16" fmla="*/ 0 w 5106"/>
              <a:gd name="T17" fmla="*/ 302 h 3689"/>
              <a:gd name="T18" fmla="*/ 0 w 5106"/>
              <a:gd name="T19" fmla="*/ 3386 h 3689"/>
              <a:gd name="T20" fmla="*/ 302 w 5106"/>
              <a:gd name="T21" fmla="*/ 3689 h 3689"/>
              <a:gd name="T22" fmla="*/ 302 w 5106"/>
              <a:gd name="T23" fmla="*/ 3689 h 3689"/>
              <a:gd name="T24" fmla="*/ 4804 w 5106"/>
              <a:gd name="T25" fmla="*/ 3689 h 36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106" h="3689">
                <a:moveTo>
                  <a:pt x="4804" y="3689"/>
                </a:moveTo>
                <a:cubicBezTo>
                  <a:pt x="4971" y="3689"/>
                  <a:pt x="5106" y="3553"/>
                  <a:pt x="5106" y="3386"/>
                </a:cubicBezTo>
                <a:lnTo>
                  <a:pt x="5106" y="3386"/>
                </a:lnTo>
                <a:lnTo>
                  <a:pt x="5106" y="302"/>
                </a:lnTo>
                <a:cubicBezTo>
                  <a:pt x="5106" y="135"/>
                  <a:pt x="4971" y="0"/>
                  <a:pt x="4804" y="0"/>
                </a:cubicBezTo>
                <a:lnTo>
                  <a:pt x="4804" y="0"/>
                </a:lnTo>
                <a:lnTo>
                  <a:pt x="302" y="0"/>
                </a:lnTo>
                <a:cubicBezTo>
                  <a:pt x="135" y="0"/>
                  <a:pt x="0" y="135"/>
                  <a:pt x="0" y="302"/>
                </a:cubicBezTo>
                <a:lnTo>
                  <a:pt x="0" y="302"/>
                </a:lnTo>
                <a:lnTo>
                  <a:pt x="0" y="3386"/>
                </a:lnTo>
                <a:cubicBezTo>
                  <a:pt x="0" y="3553"/>
                  <a:pt x="135" y="3689"/>
                  <a:pt x="302" y="3689"/>
                </a:cubicBezTo>
                <a:lnTo>
                  <a:pt x="302" y="3689"/>
                </a:lnTo>
                <a:lnTo>
                  <a:pt x="4804" y="3689"/>
                </a:lnTo>
                <a:close/>
              </a:path>
            </a:pathLst>
          </a:custGeom>
          <a:noFill/>
          <a:ln w="15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28" name="그림 1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84647" y="4672723"/>
            <a:ext cx="573374" cy="1051643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5273706" y="4741393"/>
            <a:ext cx="8397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/>
              <a:t>입고처리</a:t>
            </a:r>
            <a:r>
              <a:rPr lang="en-US" altLang="ko-KR" b="1" dirty="0" smtClean="0"/>
              <a:t>,</a:t>
            </a:r>
          </a:p>
          <a:p>
            <a:r>
              <a:rPr lang="ko-KR" altLang="en-US" b="1" dirty="0" err="1" smtClean="0"/>
              <a:t>출고처리</a:t>
            </a:r>
            <a:r>
              <a:rPr lang="en-US" altLang="ko-KR" b="1" dirty="0" smtClean="0"/>
              <a:t>,</a:t>
            </a:r>
          </a:p>
          <a:p>
            <a:r>
              <a:rPr lang="ko-KR" altLang="en-US" b="1" dirty="0" err="1" smtClean="0"/>
              <a:t>이동처리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5642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시스템</a:t>
            </a:r>
            <a:r>
              <a:rPr lang="en-US" altLang="ko-KR" dirty="0" smtClean="0"/>
              <a:t> </a:t>
            </a:r>
            <a:r>
              <a:rPr lang="ko-KR" altLang="en-US" dirty="0" smtClean="0"/>
              <a:t>아키텍처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시스템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310" y="83817"/>
            <a:ext cx="1227346" cy="43942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-4594"/>
            <a:ext cx="1643008" cy="52787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654" y="6455618"/>
            <a:ext cx="1034658" cy="283468"/>
          </a:xfrm>
          <a:prstGeom prst="rect">
            <a:avLst/>
          </a:prstGeom>
        </p:spPr>
      </p:pic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467544" y="2709712"/>
            <a:ext cx="1836737" cy="3473450"/>
          </a:xfrm>
          <a:prstGeom prst="rect">
            <a:avLst/>
          </a:prstGeom>
          <a:solidFill>
            <a:srgbClr val="FDEBDD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2699793" y="980728"/>
            <a:ext cx="1584176" cy="1584176"/>
          </a:xfrm>
          <a:prstGeom prst="rect">
            <a:avLst/>
          </a:prstGeom>
          <a:solidFill>
            <a:srgbClr val="FDEBDD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6588224" y="977623"/>
            <a:ext cx="1584176" cy="1576694"/>
          </a:xfrm>
          <a:prstGeom prst="rect">
            <a:avLst/>
          </a:prstGeom>
          <a:solidFill>
            <a:srgbClr val="FDEBDD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18" name="Group 4"/>
          <p:cNvGrpSpPr>
            <a:grpSpLocks noChangeAspect="1"/>
          </p:cNvGrpSpPr>
          <p:nvPr/>
        </p:nvGrpSpPr>
        <p:grpSpPr bwMode="auto">
          <a:xfrm>
            <a:off x="2665786" y="2733771"/>
            <a:ext cx="5787991" cy="1702966"/>
            <a:chOff x="268" y="1736"/>
            <a:chExt cx="1166" cy="2194"/>
          </a:xfrm>
        </p:grpSpPr>
        <p:sp>
          <p:nvSpPr>
            <p:cNvPr id="1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73" y="1736"/>
              <a:ext cx="1161" cy="2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Rectangle 5"/>
            <p:cNvSpPr>
              <a:spLocks noChangeArrowheads="1"/>
            </p:cNvSpPr>
            <p:nvPr/>
          </p:nvSpPr>
          <p:spPr bwMode="auto">
            <a:xfrm>
              <a:off x="277" y="1738"/>
              <a:ext cx="1148" cy="2188"/>
            </a:xfrm>
            <a:prstGeom prst="rect">
              <a:avLst/>
            </a:prstGeom>
            <a:solidFill>
              <a:srgbClr val="FDEBD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21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" y="1738"/>
              <a:ext cx="1147" cy="2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280" y="1739"/>
              <a:ext cx="1147" cy="2188"/>
            </a:xfrm>
            <a:prstGeom prst="rect">
              <a:avLst/>
            </a:prstGeom>
            <a:noFill/>
            <a:ln w="1588" cap="rnd">
              <a:noFill/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76828" y="2708920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/>
              <a:t>Client</a:t>
            </a:r>
            <a:endParaRPr lang="ko-KR" altLang="en-US" b="1" dirty="0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52" y="3025527"/>
            <a:ext cx="1543466" cy="1152128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00" y="4653136"/>
            <a:ext cx="1129720" cy="1368152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3808" y="2996952"/>
            <a:ext cx="1399652" cy="1213098"/>
          </a:xfrm>
          <a:prstGeom prst="rect">
            <a:avLst/>
          </a:prstGeom>
          <a:ln>
            <a:noFill/>
          </a:ln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5304" y="3014071"/>
            <a:ext cx="1407380" cy="1177975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12889" y="3016126"/>
            <a:ext cx="1403527" cy="11747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672589" y="2708920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/>
              <a:t>Server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2672589" y="977623"/>
            <a:ext cx="891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/>
              <a:t>Network File</a:t>
            </a:r>
          </a:p>
          <a:p>
            <a:r>
              <a:rPr lang="en-US" altLang="ko-KR" sz="900" b="1" dirty="0" smtClean="0"/>
              <a:t>System</a:t>
            </a:r>
          </a:p>
          <a:p>
            <a:endParaRPr lang="ko-KR" altLang="en-US" b="1" dirty="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71800" y="1333880"/>
            <a:ext cx="1395591" cy="11681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79337" y="982733"/>
            <a:ext cx="891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/>
              <a:t>Legacy </a:t>
            </a:r>
          </a:p>
          <a:p>
            <a:r>
              <a:rPr lang="en-US" altLang="ko-KR" sz="900" b="1" dirty="0" smtClean="0"/>
              <a:t>System</a:t>
            </a:r>
          </a:p>
          <a:p>
            <a:endParaRPr lang="ko-KR" altLang="en-US" b="1" dirty="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73069" y="1444852"/>
            <a:ext cx="530082" cy="530312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87996" y="1502839"/>
            <a:ext cx="370876" cy="371038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93347" y="1937179"/>
            <a:ext cx="819608" cy="553836"/>
          </a:xfrm>
          <a:prstGeom prst="rect">
            <a:avLst/>
          </a:prstGeom>
        </p:spPr>
      </p:pic>
      <p:cxnSp>
        <p:nvCxnSpPr>
          <p:cNvPr id="38" name="직선 화살표 연결선 37"/>
          <p:cNvCxnSpPr>
            <a:stCxn id="24" idx="3"/>
            <a:endCxn id="28" idx="1"/>
          </p:cNvCxnSpPr>
          <p:nvPr/>
        </p:nvCxnSpPr>
        <p:spPr bwMode="auto">
          <a:xfrm>
            <a:off x="2083018" y="3601591"/>
            <a:ext cx="760790" cy="191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28" idx="3"/>
            <a:endCxn id="29" idx="1"/>
          </p:cNvCxnSpPr>
          <p:nvPr/>
        </p:nvCxnSpPr>
        <p:spPr bwMode="auto">
          <a:xfrm flipV="1">
            <a:off x="4243460" y="3603059"/>
            <a:ext cx="631844" cy="44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>
            <a:stCxn id="29" idx="3"/>
            <a:endCxn id="30" idx="1"/>
          </p:cNvCxnSpPr>
          <p:nvPr/>
        </p:nvCxnSpPr>
        <p:spPr bwMode="auto">
          <a:xfrm>
            <a:off x="6282684" y="3603059"/>
            <a:ext cx="630205" cy="44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꺾인 연결선 78"/>
          <p:cNvCxnSpPr/>
          <p:nvPr/>
        </p:nvCxnSpPr>
        <p:spPr bwMode="auto">
          <a:xfrm rot="5400000" flipH="1">
            <a:off x="2395480" y="3061896"/>
            <a:ext cx="283743" cy="2012564"/>
          </a:xfrm>
          <a:prstGeom prst="bentConnector4">
            <a:avLst>
              <a:gd name="adj1" fmla="val -80566"/>
              <a:gd name="adj2" fmla="val 100042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7" name="직선 연결선 1076"/>
          <p:cNvCxnSpPr>
            <a:stCxn id="28" idx="2"/>
          </p:cNvCxnSpPr>
          <p:nvPr/>
        </p:nvCxnSpPr>
        <p:spPr bwMode="auto">
          <a:xfrm>
            <a:off x="3543634" y="4210050"/>
            <a:ext cx="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</p:cxnSp>
      <p:cxnSp>
        <p:nvCxnSpPr>
          <p:cNvPr id="1079" name="직선 연결선 1078"/>
          <p:cNvCxnSpPr/>
          <p:nvPr/>
        </p:nvCxnSpPr>
        <p:spPr bwMode="auto">
          <a:xfrm>
            <a:off x="3543634" y="4149080"/>
            <a:ext cx="0" cy="13168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꺾인 연결선 126"/>
          <p:cNvCxnSpPr>
            <a:endCxn id="16" idx="1"/>
          </p:cNvCxnSpPr>
          <p:nvPr/>
        </p:nvCxnSpPr>
        <p:spPr bwMode="auto">
          <a:xfrm rot="5400000" flipH="1" flipV="1">
            <a:off x="1154899" y="2281381"/>
            <a:ext cx="2053458" cy="1036329"/>
          </a:xfrm>
          <a:prstGeom prst="bentConnector2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꺾인 연결선 129"/>
          <p:cNvCxnSpPr>
            <a:stCxn id="29" idx="0"/>
            <a:endCxn id="16" idx="3"/>
          </p:cNvCxnSpPr>
          <p:nvPr/>
        </p:nvCxnSpPr>
        <p:spPr bwMode="auto">
          <a:xfrm rot="16200000" flipV="1">
            <a:off x="4310855" y="1745931"/>
            <a:ext cx="1241255" cy="1295025"/>
          </a:xfrm>
          <a:prstGeom prst="bentConnector2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endCxn id="17" idx="1"/>
          </p:cNvCxnSpPr>
          <p:nvPr/>
        </p:nvCxnSpPr>
        <p:spPr bwMode="auto">
          <a:xfrm rot="5400000" flipH="1" flipV="1">
            <a:off x="5539282" y="1983083"/>
            <a:ext cx="1266055" cy="83183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꺾인 연결선 159"/>
          <p:cNvCxnSpPr>
            <a:stCxn id="27" idx="3"/>
          </p:cNvCxnSpPr>
          <p:nvPr/>
        </p:nvCxnSpPr>
        <p:spPr bwMode="auto">
          <a:xfrm flipV="1">
            <a:off x="2154620" y="4149081"/>
            <a:ext cx="1625296" cy="1188131"/>
          </a:xfrm>
          <a:prstGeom prst="bentConnector3">
            <a:avLst>
              <a:gd name="adj1" fmla="val 100107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꺾인 연결선 163"/>
          <p:cNvCxnSpPr>
            <a:stCxn id="29" idx="2"/>
            <a:endCxn id="27" idx="2"/>
          </p:cNvCxnSpPr>
          <p:nvPr/>
        </p:nvCxnSpPr>
        <p:spPr bwMode="auto">
          <a:xfrm rot="5400000">
            <a:off x="2669756" y="3112050"/>
            <a:ext cx="1829242" cy="3989234"/>
          </a:xfrm>
          <a:prstGeom prst="bentConnector3">
            <a:avLst>
              <a:gd name="adj1" fmla="val 111716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꺾인 연결선 172"/>
          <p:cNvCxnSpPr/>
          <p:nvPr/>
        </p:nvCxnSpPr>
        <p:spPr bwMode="auto">
          <a:xfrm rot="5400000" flipH="1">
            <a:off x="3007014" y="2050997"/>
            <a:ext cx="14391" cy="4267709"/>
          </a:xfrm>
          <a:prstGeom prst="bentConnector3">
            <a:avLst>
              <a:gd name="adj1" fmla="val -15653276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2005651" y="3279385"/>
            <a:ext cx="820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Request User </a:t>
            </a:r>
          </a:p>
          <a:p>
            <a:pPr algn="ctr"/>
            <a:r>
              <a:rPr lang="en-US" altLang="ko-KR" sz="800" dirty="0" smtClean="0"/>
              <a:t>Interface API</a:t>
            </a:r>
            <a:endParaRPr lang="ko-KR" altLang="en-US" sz="800" dirty="0"/>
          </a:p>
        </p:txBody>
      </p:sp>
      <p:sp>
        <p:nvSpPr>
          <p:cNvPr id="181" name="TextBox 180"/>
          <p:cNvSpPr txBox="1"/>
          <p:nvPr/>
        </p:nvSpPr>
        <p:spPr>
          <a:xfrm>
            <a:off x="4152785" y="3298515"/>
            <a:ext cx="820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Request</a:t>
            </a:r>
          </a:p>
          <a:p>
            <a:pPr algn="ctr"/>
            <a:r>
              <a:rPr lang="en-US" altLang="ko-KR" sz="800" dirty="0" smtClean="0"/>
              <a:t>Business API</a:t>
            </a:r>
            <a:endParaRPr lang="ko-KR" altLang="en-US" sz="800" dirty="0"/>
          </a:p>
        </p:txBody>
      </p:sp>
      <p:sp>
        <p:nvSpPr>
          <p:cNvPr id="182" name="TextBox 181"/>
          <p:cNvSpPr txBox="1"/>
          <p:nvPr/>
        </p:nvSpPr>
        <p:spPr>
          <a:xfrm>
            <a:off x="6197704" y="3292043"/>
            <a:ext cx="820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Request</a:t>
            </a:r>
          </a:p>
          <a:p>
            <a:pPr algn="ctr"/>
            <a:r>
              <a:rPr lang="en-US" altLang="ko-KR" sz="800" dirty="0" smtClean="0"/>
              <a:t>Data</a:t>
            </a:r>
            <a:endParaRPr lang="ko-KR" altLang="en-US" sz="800" dirty="0"/>
          </a:p>
        </p:txBody>
      </p:sp>
      <p:sp>
        <p:nvSpPr>
          <p:cNvPr id="183" name="TextBox 182"/>
          <p:cNvSpPr txBox="1"/>
          <p:nvPr/>
        </p:nvSpPr>
        <p:spPr>
          <a:xfrm>
            <a:off x="2088858" y="4221088"/>
            <a:ext cx="820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Request Print</a:t>
            </a:r>
            <a:endParaRPr lang="ko-KR" altLang="en-US" sz="800" dirty="0"/>
          </a:p>
        </p:txBody>
      </p:sp>
      <p:sp>
        <p:nvSpPr>
          <p:cNvPr id="184" name="TextBox 183"/>
          <p:cNvSpPr txBox="1"/>
          <p:nvPr/>
        </p:nvSpPr>
        <p:spPr>
          <a:xfrm>
            <a:off x="1734993" y="1434262"/>
            <a:ext cx="820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Request</a:t>
            </a:r>
          </a:p>
          <a:p>
            <a:pPr algn="ctr"/>
            <a:r>
              <a:rPr lang="en-US" altLang="ko-KR" sz="800" dirty="0" smtClean="0"/>
              <a:t>Resource</a:t>
            </a:r>
            <a:endParaRPr lang="ko-KR" altLang="en-US" sz="800" dirty="0"/>
          </a:p>
        </p:txBody>
      </p:sp>
      <p:sp>
        <p:nvSpPr>
          <p:cNvPr id="185" name="TextBox 184"/>
          <p:cNvSpPr txBox="1"/>
          <p:nvPr/>
        </p:nvSpPr>
        <p:spPr>
          <a:xfrm>
            <a:off x="4525807" y="1450592"/>
            <a:ext cx="820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Upload</a:t>
            </a:r>
          </a:p>
          <a:p>
            <a:pPr algn="ctr"/>
            <a:r>
              <a:rPr lang="en-US" altLang="ko-KR" sz="800" dirty="0" smtClean="0"/>
              <a:t>Resource</a:t>
            </a:r>
            <a:endParaRPr lang="ko-KR" altLang="en-US" sz="800" dirty="0"/>
          </a:p>
        </p:txBody>
      </p:sp>
      <p:sp>
        <p:nvSpPr>
          <p:cNvPr id="186" name="TextBox 185"/>
          <p:cNvSpPr txBox="1"/>
          <p:nvPr/>
        </p:nvSpPr>
        <p:spPr>
          <a:xfrm>
            <a:off x="5741930" y="1311151"/>
            <a:ext cx="820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Request / Response</a:t>
            </a:r>
          </a:p>
          <a:p>
            <a:pPr algn="ctr"/>
            <a:r>
              <a:rPr lang="en-US" altLang="ko-KR" sz="800" dirty="0" smtClean="0"/>
              <a:t>Legacy Data</a:t>
            </a:r>
            <a:endParaRPr lang="ko-KR" altLang="en-US" sz="800" dirty="0"/>
          </a:p>
        </p:txBody>
      </p:sp>
      <p:pic>
        <p:nvPicPr>
          <p:cNvPr id="108" name="그림 10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74870" y="1801768"/>
            <a:ext cx="294583" cy="294711"/>
          </a:xfrm>
          <a:prstGeom prst="rect">
            <a:avLst/>
          </a:prstGeom>
        </p:spPr>
      </p:pic>
      <p:pic>
        <p:nvPicPr>
          <p:cNvPr id="188" name="Picture 2" descr="https://hudi.blog/static/f28515e15a636f4d6201907b388dd4b2/ff2d6/rest-api.png"/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21" b="32760"/>
          <a:stretch/>
        </p:blipFill>
        <p:spPr bwMode="auto">
          <a:xfrm>
            <a:off x="5861671" y="1780248"/>
            <a:ext cx="592591" cy="14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그림 109"/>
          <p:cNvPicPr>
            <a:picLocks noChangeAspect="1"/>
          </p:cNvPicPr>
          <p:nvPr/>
        </p:nvPicPr>
        <p:blipFill rotWithShape="1">
          <a:blip r:embed="rId17"/>
          <a:srcRect l="10481" t="12749" r="7951" b="19991"/>
          <a:stretch/>
        </p:blipFill>
        <p:spPr>
          <a:xfrm>
            <a:off x="3276836" y="5993630"/>
            <a:ext cx="719121" cy="216138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2599089" y="5900132"/>
            <a:ext cx="820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Alarm Push</a:t>
            </a:r>
          </a:p>
          <a:p>
            <a:pPr algn="ctr"/>
            <a:r>
              <a:rPr lang="en-US" altLang="ko-KR" sz="800" dirty="0" smtClean="0"/>
              <a:t>Message</a:t>
            </a:r>
            <a:endParaRPr lang="ko-KR" altLang="en-US" sz="800" dirty="0"/>
          </a:p>
        </p:txBody>
      </p:sp>
      <p:pic>
        <p:nvPicPr>
          <p:cNvPr id="111" name="그림 110"/>
          <p:cNvPicPr>
            <a:picLocks noChangeAspect="1"/>
          </p:cNvPicPr>
          <p:nvPr/>
        </p:nvPicPr>
        <p:blipFill rotWithShape="1">
          <a:blip r:embed="rId18"/>
          <a:srcRect t="36386" b="37801"/>
          <a:stretch/>
        </p:blipFill>
        <p:spPr>
          <a:xfrm>
            <a:off x="3339215" y="6489340"/>
            <a:ext cx="611394" cy="157888"/>
          </a:xfrm>
          <a:prstGeom prst="rect">
            <a:avLst/>
          </a:prstGeom>
        </p:spPr>
      </p:pic>
      <p:sp>
        <p:nvSpPr>
          <p:cNvPr id="193" name="TextBox 192"/>
          <p:cNvSpPr txBox="1"/>
          <p:nvPr/>
        </p:nvSpPr>
        <p:spPr>
          <a:xfrm>
            <a:off x="2599089" y="6453916"/>
            <a:ext cx="820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Mail Notice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42641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시스템</a:t>
            </a:r>
            <a:r>
              <a:rPr lang="en-US" altLang="ko-KR" dirty="0" smtClean="0"/>
              <a:t> </a:t>
            </a:r>
            <a:r>
              <a:rPr lang="ko-KR" altLang="en-US" dirty="0" smtClean="0"/>
              <a:t>아키텍처 </a:t>
            </a:r>
            <a:r>
              <a:rPr lang="en-US" altLang="ko-KR" dirty="0" smtClean="0"/>
              <a:t>(S/W</a:t>
            </a:r>
            <a:r>
              <a:rPr lang="ko-KR" altLang="en-US" dirty="0" smtClean="0"/>
              <a:t>구성도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310" y="83817"/>
            <a:ext cx="1227346" cy="43942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-4594"/>
            <a:ext cx="1643008" cy="52787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654" y="6455618"/>
            <a:ext cx="1034658" cy="283468"/>
          </a:xfrm>
          <a:prstGeom prst="rect">
            <a:avLst/>
          </a:prstGeom>
        </p:spPr>
      </p:pic>
      <p:graphicFrame>
        <p:nvGraphicFramePr>
          <p:cNvPr id="52" name="표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77444"/>
              </p:ext>
            </p:extLst>
          </p:nvPr>
        </p:nvGraphicFramePr>
        <p:xfrm>
          <a:off x="539552" y="1124744"/>
          <a:ext cx="8064895" cy="5040554"/>
        </p:xfrm>
        <a:graphic>
          <a:graphicData uri="http://schemas.openxmlformats.org/drawingml/2006/table">
            <a:tbl>
              <a:tblPr/>
              <a:tblGrid>
                <a:gridCol w="1450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6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8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61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Component</a:t>
                      </a:r>
                    </a:p>
                  </a:txBody>
                  <a:tcPr marL="6343" marR="6343" marT="63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61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Required Technology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61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LOGO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Language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IDE</a:t>
                      </a:r>
                    </a:p>
                  </a:txBody>
                  <a:tcPr marL="6343" marR="6343" marT="63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jdk11.0.17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6343" marR="6343" marT="63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Vue3,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AUIGrid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Business Framwork</a:t>
                      </a:r>
                    </a:p>
                  </a:txBody>
                  <a:tcPr marL="6343" marR="6343" marT="63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spring-core-5.3.18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ORM</a:t>
                      </a:r>
                    </a:p>
                  </a:txBody>
                  <a:tcPr marL="6343" marR="6343" marT="63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mybatis-3.5.7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</a:t>
                      </a:r>
                    </a:p>
                  </a:txBody>
                  <a:tcPr marL="6343" marR="6343" marT="63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logback-core-1.2.6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</a:p>
                  </a:txBody>
                  <a:tcPr marL="6343" marR="6343" marT="63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Junit 5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Report</a:t>
                      </a:r>
                    </a:p>
                  </a:txBody>
                  <a:tcPr marL="6343" marR="6343" marT="63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C#,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Velocity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Build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Source Control</a:t>
                      </a:r>
                    </a:p>
                  </a:txBody>
                  <a:tcPr marL="6343" marR="6343" marT="63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Ant, </a:t>
                      </a:r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Gradle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Github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Mobile OS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Language</a:t>
                      </a:r>
                    </a:p>
                  </a:txBody>
                  <a:tcPr marL="6343" marR="6343" marT="63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Kotlin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1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WEB WAS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Server</a:t>
                      </a:r>
                    </a:p>
                  </a:txBody>
                  <a:tcPr marL="6343" marR="6343" marT="63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Tomcat9.0, Nginx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1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Database</a:t>
                      </a:r>
                    </a:p>
                  </a:txBody>
                  <a:tcPr marL="6343" marR="6343" marT="63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PostgreSQL 15.2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1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Operate System</a:t>
                      </a:r>
                    </a:p>
                  </a:txBody>
                  <a:tcPr marL="6343" marR="6343" marT="63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Linux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43" marR="6343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53" name="그림 52" descr="post-thumbnai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483792"/>
            <a:ext cx="570842" cy="345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그림 53" descr="https://t1.daumcdn.net/cfile/tistory/999386345FA23C422B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556792"/>
            <a:ext cx="1008112" cy="23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그림 54" descr="https://blog.kakaocdn.net/dn/BuUPq/btsnZvQLpeg/LVbXVGr2Yu52Xkz5SkkZ7k/img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1483792"/>
            <a:ext cx="691476" cy="345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그림 55" descr="Vue 3, 기본 버전이 되다 • 캡틴판교 블로그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8" t="29926" r="22528" b="31598"/>
          <a:stretch/>
        </p:blipFill>
        <p:spPr bwMode="auto">
          <a:xfrm>
            <a:off x="4572000" y="1905343"/>
            <a:ext cx="584229" cy="317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그림 56" descr="에이유아이소프트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875316"/>
            <a:ext cx="1006701" cy="36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그림 57" descr="HTML5 &amp; CSS3 Web Design Fundamentals with JavaScript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103" y="1884780"/>
            <a:ext cx="457059" cy="33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그림 58" descr="Spring Framework: Day 21 — Advanced Spring MVC | by Krishna | Javarevisited  | Medium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34" t="32500" r="20417" b="33833"/>
          <a:stretch/>
        </p:blipFill>
        <p:spPr bwMode="auto">
          <a:xfrm>
            <a:off x="4499992" y="2289572"/>
            <a:ext cx="1114379" cy="31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그림 59" descr="gradle 환경에서 EhCache를 이용한 캐시 적용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518" y="2355136"/>
            <a:ext cx="1571625" cy="19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그림 6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3477" y="2318614"/>
            <a:ext cx="508435" cy="252595"/>
          </a:xfrm>
          <a:prstGeom prst="rect">
            <a:avLst/>
          </a:prstGeom>
        </p:spPr>
      </p:pic>
      <p:pic>
        <p:nvPicPr>
          <p:cNvPr id="62" name="그림 61" descr="Spring DB 2편] 4. MyBatis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28" t="11514" r="28511" b="15321"/>
          <a:stretch/>
        </p:blipFill>
        <p:spPr bwMode="auto">
          <a:xfrm>
            <a:off x="4499992" y="2655962"/>
            <a:ext cx="378879" cy="34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그림 62" descr="Logback] about Logback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142393"/>
            <a:ext cx="1244217" cy="244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그림 63" descr="post-thumbnail"/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6" b="6951"/>
          <a:stretch/>
        </p:blipFill>
        <p:spPr bwMode="auto">
          <a:xfrm>
            <a:off x="4499992" y="3472941"/>
            <a:ext cx="597981" cy="29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그림 64" descr="NET과 C#에 대한 개요 및 관계"/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0" r="24011"/>
          <a:stretch/>
        </p:blipFill>
        <p:spPr bwMode="auto">
          <a:xfrm>
            <a:off x="4496045" y="3822977"/>
            <a:ext cx="307685" cy="342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그림 65" descr="Velocity Script : #foreach 활용 팁 · 레드빈소프트 블로그"/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9" t="31139" r="12335" b="32384"/>
          <a:stretch/>
        </p:blipFill>
        <p:spPr bwMode="auto">
          <a:xfrm>
            <a:off x="5122100" y="3836568"/>
            <a:ext cx="1525805" cy="32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그림 66" descr="Ant, maven, gradle ]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045" y="4227633"/>
            <a:ext cx="551467" cy="33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그림 67" descr="안드로이드 개발자라면 알아야 하는 Gradle 원리. 안드로이드 개발을 하면 한번쯤은 Gradle 문제로 삽질을 하는 경우가… | by  김정원 | Medium"/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6" t="6083" r="9600" b="19513"/>
          <a:stretch/>
        </p:blipFill>
        <p:spPr bwMode="auto">
          <a:xfrm>
            <a:off x="5180066" y="4206505"/>
            <a:ext cx="1128285" cy="36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그림 69" descr="GitHub"/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2" t="18544" r="11324" b="17925"/>
          <a:stretch/>
        </p:blipFill>
        <p:spPr bwMode="auto">
          <a:xfrm>
            <a:off x="6444208" y="4235978"/>
            <a:ext cx="1126429" cy="343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그림 7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62707" y="4622151"/>
            <a:ext cx="541341" cy="338338"/>
          </a:xfrm>
          <a:prstGeom prst="rect">
            <a:avLst/>
          </a:prstGeom>
        </p:spPr>
      </p:pic>
      <p:pic>
        <p:nvPicPr>
          <p:cNvPr id="72" name="그림 71" descr="Apache Tomcat - OPENMARU APM"/>
          <p:cNvPicPr>
            <a:picLocks noChangeAspect="1" noChangeArrowheads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0" t="10025" r="14147" b="10132"/>
          <a:stretch/>
        </p:blipFill>
        <p:spPr bwMode="auto">
          <a:xfrm>
            <a:off x="4453098" y="5003460"/>
            <a:ext cx="560557" cy="310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그림 72"/>
          <p:cNvPicPr>
            <a:picLocks noChangeAspect="1"/>
          </p:cNvPicPr>
          <p:nvPr/>
        </p:nvPicPr>
        <p:blipFill rotWithShape="1">
          <a:blip r:embed="rId24"/>
          <a:srcRect l="3453" t="5762" r="8095" b="4841"/>
          <a:stretch/>
        </p:blipFill>
        <p:spPr>
          <a:xfrm>
            <a:off x="5244607" y="5003461"/>
            <a:ext cx="839561" cy="340118"/>
          </a:xfrm>
          <a:prstGeom prst="rect">
            <a:avLst/>
          </a:prstGeom>
        </p:spPr>
      </p:pic>
      <p:pic>
        <p:nvPicPr>
          <p:cNvPr id="74" name="그림 73" descr="PostgreSQL - 나무위키"/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1152" y="5417396"/>
            <a:ext cx="997827" cy="315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그림 74" descr="스파르타코딩클럽 | 블로그"/>
          <p:cNvPicPr>
            <a:picLocks noChangeAspect="1" noChangeArrowheads="1"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1" t="19739" r="4823" b="21378"/>
          <a:stretch/>
        </p:blipFill>
        <p:spPr bwMode="auto">
          <a:xfrm>
            <a:off x="4421152" y="5800220"/>
            <a:ext cx="767563" cy="350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90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0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0_Office 테마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맑은 고딕" pitchFamily="50" charset="-127"/>
            <a:ea typeface="맑은 고딕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맑은 고딕" pitchFamily="50" charset="-127"/>
            <a:ea typeface="맑은 고딕" pitchFamily="50" charset="-127"/>
          </a:defRPr>
        </a:defPPr>
      </a:lstStyle>
    </a:lnDef>
  </a:objectDefaults>
  <a:extraClrSchemeLst>
    <a:extraClrScheme>
      <a:clrScheme name="10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20578</TotalTime>
  <Words>186</Words>
  <Application>Microsoft Office PowerPoint</Application>
  <PresentationFormat>화면 슬라이드 쇼(4:3)</PresentationFormat>
  <Paragraphs>90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KoPub돋움체 Bold</vt:lpstr>
      <vt:lpstr>굴림</vt:lpstr>
      <vt:lpstr>맑은 고딕</vt:lpstr>
      <vt:lpstr>Arial</vt:lpstr>
      <vt:lpstr>10_Office 테마</vt:lpstr>
      <vt:lpstr>시스템 아키텍처 (사용자)</vt:lpstr>
      <vt:lpstr>시스템 아키텍처 (시스템)</vt:lpstr>
      <vt:lpstr>시스템 아키텍처 (S/W구성도)</vt:lpstr>
    </vt:vector>
  </TitlesOfParts>
  <Company>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신현규</cp:lastModifiedBy>
  <cp:revision>1467</cp:revision>
  <cp:lastPrinted>2014-02-26T16:12:06Z</cp:lastPrinted>
  <dcterms:created xsi:type="dcterms:W3CDTF">2008-11-26T05:42:25Z</dcterms:created>
  <dcterms:modified xsi:type="dcterms:W3CDTF">2026-02-08T23:16:58Z</dcterms:modified>
</cp:coreProperties>
</file>