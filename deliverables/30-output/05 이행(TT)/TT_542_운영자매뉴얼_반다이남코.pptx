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6"/>
    <p:sldId id="258" r:id="rId5"/>
    <p:sldId id="259" r:id="rId4"/>
    <p:sldId id="260" r:id="rId3"/>
    <p:sldId id="261" r:id="rId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6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 w="6350"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2194560"/>
            <a:ext cx="12188952" cy="1280160"/>
          </a:xfrm>
          <a:prstGeom prst="rect">
            <a:avLst/>
          </a:prstGeom>
          <a:solidFill>
            <a:srgbClr val="2D4B73"/>
          </a:solidFill>
          <a:ln w="6350">
            <a:solidFill>
              <a:srgbClr val="2D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88952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맑은 고딕"/>
              </a:rPr>
              <a:t>운영자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880360"/>
            <a:ext cx="12188952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0">
                <a:solidFill>
                  <a:srgbClr val="D6E0F0"/>
                </a:solidFill>
                <a:latin typeface="맑은 고딕"/>
              </a:rPr>
              <a:t>반다이남코 WMS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931920"/>
            <a:ext cx="12188952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566476"/>
                </a:solidFill>
                <a:latin typeface="맑은 고딕"/>
              </a:rPr>
              <a:t>작성일: 2026-05-12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57432" y="6601968"/>
            <a:ext cx="640080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2D4B73"/>
          </a:solidFill>
          <a:ln w="12700">
            <a:solidFill>
              <a:srgbClr val="2D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" y="0"/>
            <a:ext cx="11914632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목 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91672" cy="566928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D4B73"/>
                </a:solidFill>
                <a:latin typeface="맑은 고딕"/>
              </a:rPr>
              <a:t>[ 시스템정보 ]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  01. 권한그룹  [SMMG01]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  02. 사용자코드  [USCD01]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  03. 보안설정  [SCST01]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333333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D4B73"/>
                </a:solidFill>
                <a:latin typeface="맑은 고딕"/>
              </a:rPr>
              <a:t>[ 운영관리 ]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  04. 메뉴  [SMMN01]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  05. 공통코드  [SMCC01]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333333"/>
                </a:solidFill>
                <a:latin typeface="맑은 고딕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57432" y="6601968"/>
            <a:ext cx="640080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EF6"/>
          </a:solidFill>
          <a:ln w="6350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914400"/>
          </a:xfrm>
          <a:prstGeom prst="rect">
            <a:avLst/>
          </a:prstGeom>
          <a:solidFill>
            <a:srgbClr val="2D4B73"/>
          </a:solidFill>
          <a:ln w="6350">
            <a:solidFill>
              <a:srgbClr val="2D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12188952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맑은 고딕"/>
              </a:rPr>
              <a:t>시스템정보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56432"/>
            <a:ext cx="12188952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D6E0F0"/>
                </a:solidFill>
                <a:latin typeface="맑은 고딕"/>
              </a:rPr>
              <a:t>운영자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7432" y="6601968"/>
            <a:ext cx="640080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 w="6350"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914400"/>
          </a:xfrm>
          <a:prstGeom prst="rect">
            <a:avLst/>
          </a:prstGeom>
          <a:solidFill>
            <a:srgbClr val="2D4B73"/>
          </a:solidFill>
          <a:ln w="6350">
            <a:solidFill>
              <a:srgbClr val="2D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12188952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권한그룹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46120"/>
            <a:ext cx="12188952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D6E0F0"/>
                </a:solidFill>
                <a:latin typeface="맑은 고딕"/>
              </a:rPr>
              <a:t>[SMMG01]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7432" y="6601968"/>
            <a:ext cx="640080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2D4B73"/>
          </a:solidFill>
          <a:ln w="12700">
            <a:solidFill>
              <a:srgbClr val="2D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" y="0"/>
            <a:ext cx="11914632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권한그룹 - 등록 팝업  [SMMG01]</a:t>
            </a:r>
          </a:p>
        </p:txBody>
      </p:sp>
      <p:pic>
        <p:nvPicPr>
          <p:cNvPr id="4" name="Picture 3" descr="03-register-pop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0100"/>
            <a:ext cx="9144000" cy="5715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144000" y="457200"/>
            <a:ext cx="30449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253728" y="594360"/>
            <a:ext cx="113233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맑은 고딕"/>
              </a:rPr>
              <a:t>■ 1. 등록 팝업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3728" y="905256"/>
            <a:ext cx="282549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[추가] 버튼 클릭 시 신규 등록 팝업이 열립니다.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53728" y="1170432"/>
            <a:ext cx="260870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입력 항목은 그리드 컬럼과 동일합니다: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53728" y="1435608"/>
            <a:ext cx="1827657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권한그룹명, 사용여부, 조회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3728" y="1700784"/>
            <a:ext cx="1541907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수정, 메뉴명, 메뉴코드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53728" y="1965960"/>
            <a:ext cx="1322832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상위메뉴코드, 순서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53728" y="2304288"/>
            <a:ext cx="570357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맑은 고딕"/>
              </a:rPr>
              <a:t>■ 동작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3728" y="2615184"/>
            <a:ext cx="282549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필수 항목(*)을 모두 채운 후 [저장] 버튼을 클릭하여 등록합니다.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3728" y="2880360"/>
            <a:ext cx="282549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[취소] 또는 [✕] 클릭 시 변경사항 없이 닫힙니다.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3728" y="3218688"/>
            <a:ext cx="282549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CC2222"/>
                </a:solidFill>
                <a:latin typeface="맑은 고딕"/>
              </a:rPr>
              <a:t>⚠ 운영자 권한 변경은 시스템 전체에 영향을 주므로 신중하게 등록하세요.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8" y="3483864"/>
            <a:ext cx="282549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CC2222"/>
                </a:solidFill>
                <a:latin typeface="맑은 고딕"/>
              </a:rPr>
              <a:t>⚠ 본 매뉴얼은 팝업 화면을 보여주기 위해 열기만 한 상태입니다.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57432" y="6601968"/>
            <a:ext cx="640080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2D4B73"/>
          </a:solidFill>
          <a:ln w="12700">
            <a:solidFill>
              <a:srgbClr val="2D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" y="0"/>
            <a:ext cx="11914632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권한그룹 - 행 선택  [SMMG01]</a:t>
            </a:r>
          </a:p>
        </p:txBody>
      </p:sp>
      <p:pic>
        <p:nvPicPr>
          <p:cNvPr id="4" name="Picture 3" descr="04-row-sel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0100"/>
            <a:ext cx="9144000" cy="5715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3500" y="1620142"/>
            <a:ext cx="3073399" cy="4826000"/>
          </a:xfrm>
          <a:prstGeom prst="rect">
            <a:avLst/>
          </a:prstGeom>
          <a:noFill/>
          <a:ln w="25400">
            <a:solidFill>
              <a:srgbClr val="1E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Oval 5"/>
          <p:cNvSpPr/>
          <p:nvPr/>
        </p:nvSpPr>
        <p:spPr>
          <a:xfrm>
            <a:off x="18288" y="1524130"/>
            <a:ext cx="384048" cy="384048"/>
          </a:xfrm>
          <a:prstGeom prst="ellipse">
            <a:avLst/>
          </a:prstGeom>
          <a:solidFill>
            <a:srgbClr val="1E64C8"/>
          </a:solidFill>
          <a:ln w="222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457200"/>
            <a:ext cx="30449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253728" y="594360"/>
            <a:ext cx="970407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64C8"/>
                </a:solidFill>
                <a:latin typeface="맑은 고딕"/>
              </a:rPr>
              <a:t>■ 1. 행 선택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53728" y="905256"/>
            <a:ext cx="282549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그리드에서 행을 클릭하면 해당 행이 강조되고 상세 정보가 조회됩니다.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3728" y="1170432"/>
            <a:ext cx="282549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선택된 행은 그리드 안에서 인라인으로 수정 가능합니다.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53728" y="1508760"/>
            <a:ext cx="149428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맑은 고딕"/>
              </a:rPr>
              <a:t>■ 실행 가능한 기능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53728" y="1819656"/>
            <a:ext cx="1903857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행추가, 행삭제, 행저장, 저장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57432" y="6601968"/>
            <a:ext cx="640080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 w="6350"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914400"/>
          </a:xfrm>
          <a:prstGeom prst="rect">
            <a:avLst/>
          </a:prstGeom>
          <a:solidFill>
            <a:srgbClr val="2D4B73"/>
          </a:solidFill>
          <a:ln w="6350">
            <a:solidFill>
              <a:srgbClr val="2D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12188952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사용자코드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46120"/>
            <a:ext cx="12188952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D6E0F0"/>
                </a:solidFill>
                <a:latin typeface="맑은 고딕"/>
              </a:rPr>
              <a:t>[USCD01]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7432" y="6601968"/>
            <a:ext cx="640080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2D4B73"/>
          </a:solidFill>
          <a:ln w="12700">
            <a:solidFill>
              <a:srgbClr val="2D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" y="0"/>
            <a:ext cx="11914632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사용자코드 - 메인 화면  [USCD01]</a:t>
            </a:r>
          </a:p>
        </p:txBody>
      </p:sp>
      <p:pic>
        <p:nvPicPr>
          <p:cNvPr id="4" name="Picture 3" descr="02-search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0100"/>
            <a:ext cx="9144000" cy="5715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1689992"/>
            <a:ext cx="9144000" cy="4831457"/>
          </a:xfrm>
          <a:prstGeom prst="rect">
            <a:avLst/>
          </a:prstGeom>
          <a:noFill/>
          <a:ln w="25400">
            <a:solidFill>
              <a:srgbClr val="148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Oval 5"/>
          <p:cNvSpPr/>
          <p:nvPr/>
        </p:nvSpPr>
        <p:spPr>
          <a:xfrm>
            <a:off x="18288" y="1593980"/>
            <a:ext cx="384048" cy="384048"/>
          </a:xfrm>
          <a:prstGeom prst="ellipse">
            <a:avLst/>
          </a:prstGeom>
          <a:solidFill>
            <a:srgbClr val="148C3C"/>
          </a:solidFill>
          <a:ln w="222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457200"/>
            <a:ext cx="30449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253728" y="594360"/>
            <a:ext cx="113233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DC1E1E"/>
                </a:solidFill>
                <a:latin typeface="맑은 고딕"/>
              </a:rPr>
              <a:t>■ 1. 검색 영역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53728" y="905256"/>
            <a:ext cx="1322832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사업장, 상위코드명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3728" y="1170432"/>
            <a:ext cx="282549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위 조건 입력 후 [검색] 버튼을 클릭하여 데이터를 조회합니다.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53728" y="1508760"/>
            <a:ext cx="1294257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8C3C"/>
                </a:solidFill>
                <a:latin typeface="맑은 고딕"/>
              </a:rPr>
              <a:t>■ 2. 결과 그리드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53728" y="1819656"/>
            <a:ext cx="751332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표시 컬럼: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3728" y="2084832"/>
            <a:ext cx="2256282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상위코드명, 하위코드, 하위코드명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3728" y="2350008"/>
            <a:ext cx="1179957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표시순, 표시여부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3728" y="2688336"/>
            <a:ext cx="951357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맑은 고딕"/>
              </a:rPr>
              <a:t>■ 기능 버튼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8" y="2999232"/>
            <a:ext cx="751332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저장, 추가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3728" y="3337560"/>
            <a:ext cx="951357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맑은 고딕"/>
              </a:rPr>
              <a:t>■ 사용 방법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3728" y="3648456"/>
            <a:ext cx="282549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그리드 셀을 클릭해 인라인으로 값을 변경 후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57432" y="6601968"/>
            <a:ext cx="640080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2D4B73"/>
          </a:solidFill>
          <a:ln w="12700">
            <a:solidFill>
              <a:srgbClr val="2D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" y="0"/>
            <a:ext cx="11914632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사용자코드 - 등록 팝업  [USCD01]</a:t>
            </a:r>
          </a:p>
        </p:txBody>
      </p:sp>
      <p:pic>
        <p:nvPicPr>
          <p:cNvPr id="4" name="Picture 3" descr="03-register-pop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0100"/>
            <a:ext cx="9144000" cy="5715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144000" y="457200"/>
            <a:ext cx="30449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253728" y="594360"/>
            <a:ext cx="113233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맑은 고딕"/>
              </a:rPr>
              <a:t>■ 1. 등록 팝업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3728" y="905256"/>
            <a:ext cx="282549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[추가] 버튼 클릭 시 신규 등록 팝업이 열립니다.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53728" y="1170432"/>
            <a:ext cx="260870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입력 항목은 그리드 컬럼과 동일합니다: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53728" y="1435608"/>
            <a:ext cx="2256282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상위코드명, 하위코드, 하위코드명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3728" y="1700784"/>
            <a:ext cx="1179957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표시순, 표시여부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53728" y="2039112"/>
            <a:ext cx="570357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맑은 고딕"/>
              </a:rPr>
              <a:t>■ 동작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53728" y="2350008"/>
            <a:ext cx="282549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필수 항목(*)을 모두 채운 후 [저장] 버튼을 클릭하여 등록합니다.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3728" y="2615184"/>
            <a:ext cx="282549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[취소] 또는 [✕] 클릭 시 변경사항 없이 닫힙니다.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3728" y="2953512"/>
            <a:ext cx="282549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CC2222"/>
                </a:solidFill>
                <a:latin typeface="맑은 고딕"/>
              </a:rPr>
              <a:t>⚠ 운영자 권한 변경은 시스템 전체에 영향을 주므로 신중하게 등록하세요.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3728" y="3218688"/>
            <a:ext cx="282549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CC2222"/>
                </a:solidFill>
                <a:latin typeface="맑은 고딕"/>
              </a:rPr>
              <a:t>⚠ 본 매뉴얼은 팝업 화면을 보여주기 위해 열기만 한 상태입니다.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57432" y="6601968"/>
            <a:ext cx="640080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2D4B73"/>
          </a:solidFill>
          <a:ln w="12700">
            <a:solidFill>
              <a:srgbClr val="2D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" y="0"/>
            <a:ext cx="11914632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사용자코드 - 행 선택  [USCD01]</a:t>
            </a:r>
          </a:p>
        </p:txBody>
      </p:sp>
      <p:pic>
        <p:nvPicPr>
          <p:cNvPr id="4" name="Picture 3" descr="04-row-sel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0100"/>
            <a:ext cx="9144000" cy="5715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1689992"/>
            <a:ext cx="9144000" cy="4831457"/>
          </a:xfrm>
          <a:prstGeom prst="rect">
            <a:avLst/>
          </a:prstGeom>
          <a:noFill/>
          <a:ln w="25400">
            <a:solidFill>
              <a:srgbClr val="1E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Oval 5"/>
          <p:cNvSpPr/>
          <p:nvPr/>
        </p:nvSpPr>
        <p:spPr>
          <a:xfrm>
            <a:off x="18288" y="1593980"/>
            <a:ext cx="384048" cy="384048"/>
          </a:xfrm>
          <a:prstGeom prst="ellipse">
            <a:avLst/>
          </a:prstGeom>
          <a:solidFill>
            <a:srgbClr val="1E64C8"/>
          </a:solidFill>
          <a:ln w="222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457200"/>
            <a:ext cx="30449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253728" y="594360"/>
            <a:ext cx="970407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64C8"/>
                </a:solidFill>
                <a:latin typeface="맑은 고딕"/>
              </a:rPr>
              <a:t>■ 1. 행 선택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53728" y="905256"/>
            <a:ext cx="282549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그리드에서 행을 클릭하면 해당 행이 강조되고 상세 정보가 조회됩니다.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3728" y="1170432"/>
            <a:ext cx="282549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선택된 행은 그리드 안에서 인라인으로 수정 가능합니다.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53728" y="1508760"/>
            <a:ext cx="149428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맑은 고딕"/>
              </a:rPr>
              <a:t>■ 실행 가능한 기능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53728" y="1819656"/>
            <a:ext cx="751332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저장, 추가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57432" y="6601968"/>
            <a:ext cx="640080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 w="6350"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914400"/>
          </a:xfrm>
          <a:prstGeom prst="rect">
            <a:avLst/>
          </a:prstGeom>
          <a:solidFill>
            <a:srgbClr val="2D4B73"/>
          </a:solidFill>
          <a:ln w="6350">
            <a:solidFill>
              <a:srgbClr val="2D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12188952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보안설정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46120"/>
            <a:ext cx="12188952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D6E0F0"/>
                </a:solidFill>
                <a:latin typeface="맑은 고딕"/>
              </a:rPr>
              <a:t>[SCST01]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7432" y="6601968"/>
            <a:ext cx="640080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EF6"/>
          </a:solidFill>
          <a:ln w="6350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914400"/>
          </a:xfrm>
          <a:prstGeom prst="rect">
            <a:avLst/>
          </a:prstGeom>
          <a:solidFill>
            <a:srgbClr val="2D4B73"/>
          </a:solidFill>
          <a:ln w="6350">
            <a:solidFill>
              <a:srgbClr val="2D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12188952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맑은 고딕"/>
              </a:rPr>
              <a:t>운영관리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56432"/>
            <a:ext cx="12188952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D6E0F0"/>
                </a:solidFill>
                <a:latin typeface="맑은 고딕"/>
              </a:rPr>
              <a:t>운영자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7432" y="6601968"/>
            <a:ext cx="640080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 w="6350"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914400"/>
          </a:xfrm>
          <a:prstGeom prst="rect">
            <a:avLst/>
          </a:prstGeom>
          <a:solidFill>
            <a:srgbClr val="2D4B73"/>
          </a:solidFill>
          <a:ln w="6350">
            <a:solidFill>
              <a:srgbClr val="2D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12188952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메뉴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46120"/>
            <a:ext cx="12188952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D6E0F0"/>
                </a:solidFill>
                <a:latin typeface="맑은 고딕"/>
              </a:rPr>
              <a:t>[SMMN01]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7432" y="6601968"/>
            <a:ext cx="640080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2D4B73"/>
          </a:solidFill>
          <a:ln w="12700">
            <a:solidFill>
              <a:srgbClr val="2D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" y="0"/>
            <a:ext cx="11914632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메뉴 - 메인 화면  [SMMN01]</a:t>
            </a:r>
          </a:p>
        </p:txBody>
      </p:sp>
      <p:pic>
        <p:nvPicPr>
          <p:cNvPr id="4" name="Picture 3" descr="02-search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0100"/>
            <a:ext cx="9144000" cy="5715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3500" y="1950342"/>
            <a:ext cx="9017000" cy="4507607"/>
          </a:xfrm>
          <a:prstGeom prst="rect">
            <a:avLst/>
          </a:prstGeom>
          <a:noFill/>
          <a:ln w="25400">
            <a:solidFill>
              <a:srgbClr val="148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Oval 5"/>
          <p:cNvSpPr/>
          <p:nvPr/>
        </p:nvSpPr>
        <p:spPr>
          <a:xfrm>
            <a:off x="18288" y="1854330"/>
            <a:ext cx="384048" cy="384048"/>
          </a:xfrm>
          <a:prstGeom prst="ellipse">
            <a:avLst/>
          </a:prstGeom>
          <a:solidFill>
            <a:srgbClr val="148C3C"/>
          </a:solidFill>
          <a:ln w="222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457200"/>
            <a:ext cx="30449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253728" y="594360"/>
            <a:ext cx="113233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DC1E1E"/>
                </a:solidFill>
                <a:latin typeface="맑은 고딕"/>
              </a:rPr>
              <a:t>■ 1. 검색 영역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53728" y="905256"/>
            <a:ext cx="1684782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사업장, 메뉴명, 메뉴코드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3728" y="1170432"/>
            <a:ext cx="2256282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상위메뉴명, 상위메뉴코드, UI유형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53728" y="1435608"/>
            <a:ext cx="1970531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메뉴유형, 알람사용, 기본메뉴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53728" y="1700784"/>
            <a:ext cx="675132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사용여부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3728" y="1965960"/>
            <a:ext cx="282549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위 조건 입력 후 [검색] 버튼을 클릭하여 데이터를 조회합니다.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3728" y="2304288"/>
            <a:ext cx="1294257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8C3C"/>
                </a:solidFill>
                <a:latin typeface="맑은 고딕"/>
              </a:rPr>
              <a:t>■ 2. 결과 그리드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3728" y="2615184"/>
            <a:ext cx="751332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표시 컬럼: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8" y="2880360"/>
            <a:ext cx="2113407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PDA표시순서, 메뉴명, 메뉴코드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3728" y="3145536"/>
            <a:ext cx="2113407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상위메뉴명, 상위메뉴코드, 순서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3728" y="3410712"/>
            <a:ext cx="1513332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UI유형, 메뉴유형, URL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3728" y="3675888"/>
            <a:ext cx="2113407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메뉴아이콘, 알람사용, 기본메뉴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3728" y="3941064"/>
            <a:ext cx="2180081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처리일자변경가능여부, 사용여부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4279392"/>
            <a:ext cx="951357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맑은 고딕"/>
              </a:rPr>
              <a:t>■ 기능 버튼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4590288"/>
            <a:ext cx="2808583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삭제, 메뉴적용, 메뉴해제, {{ confirmText 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4928616"/>
            <a:ext cx="951357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맑은 고딕"/>
              </a:rPr>
              <a:t>■ 사용 방법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5239512"/>
            <a:ext cx="1246632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행 더블클릭 또는 </a:t>
            </a:r>
          </a:p>
        </p:txBody>
      </p:sp>
      <p:pic>
        <p:nvPicPr>
          <p:cNvPr id="25" name="Picture 24" descr="tb_1_수정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360" y="5257800"/>
            <a:ext cx="201168" cy="20116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719816" y="5239512"/>
            <a:ext cx="1359407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 버튼 클릭 시 상세 편집 팝업이 열립니다.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57432" y="6601968"/>
            <a:ext cx="640080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2D4B73"/>
          </a:solidFill>
          <a:ln w="12700">
            <a:solidFill>
              <a:srgbClr val="2D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" y="0"/>
            <a:ext cx="11914632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메뉴 - 등록 팝업  [SMMN01]</a:t>
            </a:r>
          </a:p>
        </p:txBody>
      </p:sp>
      <p:pic>
        <p:nvPicPr>
          <p:cNvPr id="4" name="Picture 3" descr="03-register-pop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0100"/>
            <a:ext cx="9144000" cy="5715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743200" y="2930326"/>
            <a:ext cx="3657600" cy="1740197"/>
          </a:xfrm>
          <a:prstGeom prst="rect">
            <a:avLst/>
          </a:prstGeom>
          <a:noFill/>
          <a:ln w="254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Oval 5"/>
          <p:cNvSpPr/>
          <p:nvPr/>
        </p:nvSpPr>
        <p:spPr>
          <a:xfrm>
            <a:off x="2647188" y="2834314"/>
            <a:ext cx="384048" cy="384048"/>
          </a:xfrm>
          <a:prstGeom prst="ellipse">
            <a:avLst/>
          </a:prstGeom>
          <a:solidFill>
            <a:srgbClr val="1A3A5C"/>
          </a:solidFill>
          <a:ln w="222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457200"/>
            <a:ext cx="30449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253728" y="594360"/>
            <a:ext cx="113233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맑은 고딕"/>
              </a:rPr>
              <a:t>■ 1. 등록 팝업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53728" y="905256"/>
            <a:ext cx="103632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</a:t>
            </a:r>
          </a:p>
        </p:txBody>
      </p:sp>
      <p:pic>
        <p:nvPicPr>
          <p:cNvPr id="10" name="Picture 9" descr="tb_0_등록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360" y="923544"/>
            <a:ext cx="201168" cy="2011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76816" y="905256"/>
            <a:ext cx="2502407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 버튼 클릭 시 신규 등록 팝업이 열립니다.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53728" y="1170432"/>
            <a:ext cx="260870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입력 항목은 그리드 컬럼과 동일합니다: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3728" y="1435608"/>
            <a:ext cx="2113407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PDA표시순서, 메뉴명, 메뉴코드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3728" y="1700784"/>
            <a:ext cx="2113407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상위메뉴명, 상위메뉴코드, 순서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3728" y="1965960"/>
            <a:ext cx="1179957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UI유형, 메뉴유형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8" y="2304288"/>
            <a:ext cx="570357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맑은 고딕"/>
              </a:rPr>
              <a:t>■ 동작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3728" y="2615184"/>
            <a:ext cx="192290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필수 항목(*)을 모두 채운 후 </a:t>
            </a:r>
          </a:p>
        </p:txBody>
      </p:sp>
      <p:pic>
        <p:nvPicPr>
          <p:cNvPr id="18" name="Picture 17" descr="pp_edit_cf_0_저장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6635" y="2633472"/>
            <a:ext cx="618978" cy="2011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813901" y="2615184"/>
            <a:ext cx="265322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 버튼을 클릭하여 등록합니다.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3728" y="2880360"/>
            <a:ext cx="103632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</a:t>
            </a:r>
          </a:p>
        </p:txBody>
      </p:sp>
      <p:pic>
        <p:nvPicPr>
          <p:cNvPr id="21" name="Picture 20" descr="pp_register_cl_0_닫기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7360" y="2898648"/>
            <a:ext cx="201168" cy="201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576816" y="2880360"/>
            <a:ext cx="408432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 또는 </a:t>
            </a:r>
          </a:p>
        </p:txBody>
      </p:sp>
      <p:pic>
        <p:nvPicPr>
          <p:cNvPr id="23" name="Picture 22" descr="pp_register_cl_0_닫기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5248" y="2898648"/>
            <a:ext cx="201168" cy="20116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204704" y="2880360"/>
            <a:ext cx="1874519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 클릭 시 변경사항 없이 닫힙니다.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3218688"/>
            <a:ext cx="282549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CC2222"/>
                </a:solidFill>
                <a:latin typeface="맑은 고딕"/>
              </a:rPr>
              <a:t>⚠ 운영자 권한 변경은 시스템 전체에 영향을 주므로 신중하게 등록하세요.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3483864"/>
            <a:ext cx="282549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CC2222"/>
                </a:solidFill>
                <a:latin typeface="맑은 고딕"/>
              </a:rPr>
              <a:t>⚠ 본 매뉴얼은 팝업 화면을 보여주기 위해 열기만 한 상태입니다.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57432" y="6601968"/>
            <a:ext cx="640080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2D4B73"/>
          </a:solidFill>
          <a:ln w="12700">
            <a:solidFill>
              <a:srgbClr val="2D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" y="0"/>
            <a:ext cx="11914632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메뉴 - 행 선택  [SMMN01]</a:t>
            </a:r>
          </a:p>
        </p:txBody>
      </p:sp>
      <p:pic>
        <p:nvPicPr>
          <p:cNvPr id="4" name="Picture 3" descr="04-row-sel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0100"/>
            <a:ext cx="9144000" cy="5715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3500" y="1950342"/>
            <a:ext cx="9017000" cy="4507607"/>
          </a:xfrm>
          <a:prstGeom prst="rect">
            <a:avLst/>
          </a:prstGeom>
          <a:noFill/>
          <a:ln w="25400">
            <a:solidFill>
              <a:srgbClr val="1E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Oval 5"/>
          <p:cNvSpPr/>
          <p:nvPr/>
        </p:nvSpPr>
        <p:spPr>
          <a:xfrm>
            <a:off x="18288" y="1854330"/>
            <a:ext cx="384048" cy="384048"/>
          </a:xfrm>
          <a:prstGeom prst="ellipse">
            <a:avLst/>
          </a:prstGeom>
          <a:solidFill>
            <a:srgbClr val="1E64C8"/>
          </a:solidFill>
          <a:ln w="222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457200"/>
            <a:ext cx="30449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253728" y="594360"/>
            <a:ext cx="970407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64C8"/>
                </a:solidFill>
                <a:latin typeface="맑은 고딕"/>
              </a:rPr>
              <a:t>■ 1. 행 선택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53728" y="905256"/>
            <a:ext cx="282549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그리드에서 행을 클릭하면 해당 행이 강조되고 상세 정보가 조회됩니다.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3728" y="1170432"/>
            <a:ext cx="1961007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선택된 행을 더블클릭하거나 </a:t>
            </a:r>
          </a:p>
        </p:txBody>
      </p:sp>
      <p:pic>
        <p:nvPicPr>
          <p:cNvPr id="11" name="Picture 10" descr="tb_1_수정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4735" y="1188720"/>
            <a:ext cx="201168" cy="2011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434191" y="1170432"/>
            <a:ext cx="645032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 버튼을 클릭하면 상세 편집 팝업이 열립니다.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3728" y="1508760"/>
            <a:ext cx="149428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맑은 고딕"/>
              </a:rPr>
              <a:t>■ 실행 가능한 기능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3728" y="1819656"/>
            <a:ext cx="2808583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삭제, 메뉴적용, 메뉴해제, {{ confirmText 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57432" y="6601968"/>
            <a:ext cx="640080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2D4B73"/>
          </a:solidFill>
          <a:ln w="12700">
            <a:solidFill>
              <a:srgbClr val="2D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" y="0"/>
            <a:ext cx="11914632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메뉴 - 수정 팝업  [SMMN01]</a:t>
            </a:r>
          </a:p>
        </p:txBody>
      </p:sp>
      <p:pic>
        <p:nvPicPr>
          <p:cNvPr id="4" name="Picture 3" descr="05-edit-pop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0100"/>
            <a:ext cx="9144000" cy="5715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743200" y="2930326"/>
            <a:ext cx="3657600" cy="1740197"/>
          </a:xfrm>
          <a:prstGeom prst="rect">
            <a:avLst/>
          </a:prstGeom>
          <a:noFill/>
          <a:ln w="254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Oval 5"/>
          <p:cNvSpPr/>
          <p:nvPr/>
        </p:nvSpPr>
        <p:spPr>
          <a:xfrm>
            <a:off x="2647188" y="2834314"/>
            <a:ext cx="384048" cy="384048"/>
          </a:xfrm>
          <a:prstGeom prst="ellipse">
            <a:avLst/>
          </a:prstGeom>
          <a:solidFill>
            <a:srgbClr val="1A3A5C"/>
          </a:solidFill>
          <a:ln w="222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457200"/>
            <a:ext cx="30449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253728" y="594360"/>
            <a:ext cx="113233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맑은 고딕"/>
              </a:rPr>
              <a:t>■ 1. 수정 팝업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53728" y="905256"/>
            <a:ext cx="1913381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결과 그리드에서 행 선택 후 </a:t>
            </a:r>
          </a:p>
        </p:txBody>
      </p:sp>
      <p:pic>
        <p:nvPicPr>
          <p:cNvPr id="10" name="Picture 9" descr="tb_1_수정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109" y="923544"/>
            <a:ext cx="201168" cy="2011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386565" y="905256"/>
            <a:ext cx="69265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 버튼 클릭 시 수정 팝업이 열립니다.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53728" y="1170432"/>
            <a:ext cx="1084707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수정 가능 항목: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3728" y="1435608"/>
            <a:ext cx="2113407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PDA표시순서, 메뉴명, 메뉴코드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3728" y="1700784"/>
            <a:ext cx="2113407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상위메뉴명, 상위메뉴코드, 순서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3728" y="1965960"/>
            <a:ext cx="1179957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UI유형, 메뉴유형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8" y="2304288"/>
            <a:ext cx="570357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맑은 고딕"/>
              </a:rPr>
              <a:t>■ 동작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3728" y="2615184"/>
            <a:ext cx="1722882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변경할 항목을 수정한 후 </a:t>
            </a:r>
          </a:p>
        </p:txBody>
      </p:sp>
      <p:pic>
        <p:nvPicPr>
          <p:cNvPr id="18" name="Picture 17" descr="pp_edit_cf_0_저장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6610" y="2633472"/>
            <a:ext cx="618978" cy="2011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613876" y="2615184"/>
            <a:ext cx="465347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 버튼을 클릭하여 적용합니다.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3728" y="2880360"/>
            <a:ext cx="103632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</a:t>
            </a:r>
          </a:p>
        </p:txBody>
      </p:sp>
      <p:pic>
        <p:nvPicPr>
          <p:cNvPr id="21" name="Picture 20" descr="pp_register_cl_0_닫기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7360" y="2898648"/>
            <a:ext cx="201168" cy="201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576816" y="2880360"/>
            <a:ext cx="408432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 또는 </a:t>
            </a:r>
          </a:p>
        </p:txBody>
      </p:sp>
      <p:pic>
        <p:nvPicPr>
          <p:cNvPr id="23" name="Picture 22" descr="pp_register_cl_0_닫기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5248" y="2898648"/>
            <a:ext cx="201168" cy="20116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204704" y="2880360"/>
            <a:ext cx="1874519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 클릭 시 변경사항 없이 닫힙니다.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3218688"/>
            <a:ext cx="282549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CC2222"/>
                </a:solidFill>
                <a:latin typeface="맑은 고딕"/>
              </a:rPr>
              <a:t>⚠ 운영자 권한 변경은 시스템 전체에 영향을 주므로 신중하게 진행하세요.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3483864"/>
            <a:ext cx="282549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CC2222"/>
                </a:solidFill>
                <a:latin typeface="맑은 고딕"/>
              </a:rPr>
              <a:t>⚠ 본 매뉴얼은 팝업 화면을 보여주기 위해 열기만 한 상태입니다.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57432" y="6601968"/>
            <a:ext cx="640080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 w="6350"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914400"/>
          </a:xfrm>
          <a:prstGeom prst="rect">
            <a:avLst/>
          </a:prstGeom>
          <a:solidFill>
            <a:srgbClr val="2D4B73"/>
          </a:solidFill>
          <a:ln w="6350">
            <a:solidFill>
              <a:srgbClr val="2D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12188952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공통코드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46120"/>
            <a:ext cx="12188952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D6E0F0"/>
                </a:solidFill>
                <a:latin typeface="맑은 고딕"/>
              </a:rPr>
              <a:t>[SMCC01]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7432" y="6601968"/>
            <a:ext cx="640080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2D4B73"/>
          </a:solidFill>
          <a:ln w="12700">
            <a:solidFill>
              <a:srgbClr val="2D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" y="0"/>
            <a:ext cx="11914632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공통코드 - 메인 화면  [SMCC01]</a:t>
            </a:r>
          </a:p>
        </p:txBody>
      </p:sp>
      <p:pic>
        <p:nvPicPr>
          <p:cNvPr id="4" name="Picture 3" descr="02-search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0100"/>
            <a:ext cx="9144000" cy="5715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1645542"/>
            <a:ext cx="9144000" cy="4875907"/>
          </a:xfrm>
          <a:prstGeom prst="rect">
            <a:avLst/>
          </a:prstGeom>
          <a:noFill/>
          <a:ln w="25400">
            <a:solidFill>
              <a:srgbClr val="148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Oval 5"/>
          <p:cNvSpPr/>
          <p:nvPr/>
        </p:nvSpPr>
        <p:spPr>
          <a:xfrm>
            <a:off x="18288" y="1549530"/>
            <a:ext cx="384048" cy="384048"/>
          </a:xfrm>
          <a:prstGeom prst="ellipse">
            <a:avLst/>
          </a:prstGeom>
          <a:solidFill>
            <a:srgbClr val="148C3C"/>
          </a:solidFill>
          <a:ln w="222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457200"/>
            <a:ext cx="30449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253728" y="594360"/>
            <a:ext cx="113233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DC1E1E"/>
                </a:solidFill>
                <a:latin typeface="맑은 고딕"/>
              </a:rPr>
              <a:t>■ 1. 검색 영역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53728" y="905256"/>
            <a:ext cx="1970531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사업장, 상위코드, 상위코드명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3728" y="1170432"/>
            <a:ext cx="675132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사용여부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53728" y="1435608"/>
            <a:ext cx="282549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위 조건 입력 후 [검색] 버튼을 클릭하여 데이터를 조회합니다.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53728" y="1773936"/>
            <a:ext cx="1294257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8C3C"/>
                </a:solidFill>
                <a:latin typeface="맑은 고딕"/>
              </a:rPr>
              <a:t>■ 2. 결과 그리드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3728" y="2084832"/>
            <a:ext cx="751332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표시 컬럼: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3728" y="2350008"/>
            <a:ext cx="2113407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상위코드, 상위코드명, 코드유형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3728" y="2615184"/>
            <a:ext cx="2113407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사용여부, 하위코드, 하위코드명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8" y="2880360"/>
            <a:ext cx="2113407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표시순, 표시여부, 참조상위코드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3728" y="3145536"/>
            <a:ext cx="2256282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참조상위명, 참조코드, 참조코드명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3728" y="3410712"/>
            <a:ext cx="1037082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시작값, 종료값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3728" y="3749040"/>
            <a:ext cx="951357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맑은 고딕"/>
              </a:rPr>
              <a:t>■ 기능 버튼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3728" y="4059936"/>
            <a:ext cx="2761107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행추가, 행저장, 공통코드화, 시스템코드화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4325112"/>
            <a:ext cx="960882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사용자코드화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4663440"/>
            <a:ext cx="951357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맑은 고딕"/>
              </a:rPr>
              <a:t>■ 사용 방법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4974336"/>
            <a:ext cx="282549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그리드 셀을 클릭해 인라인으로 값을 변경 후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57432" y="6601968"/>
            <a:ext cx="640080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2D4B73"/>
          </a:solidFill>
          <a:ln w="12700">
            <a:solidFill>
              <a:srgbClr val="2D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" y="0"/>
            <a:ext cx="11914632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공통코드 - 등록 팝업  [SMCC01]</a:t>
            </a:r>
          </a:p>
        </p:txBody>
      </p:sp>
      <p:pic>
        <p:nvPicPr>
          <p:cNvPr id="4" name="Picture 3" descr="03-register-pop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0100"/>
            <a:ext cx="9144000" cy="5715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144000" y="457200"/>
            <a:ext cx="30449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253728" y="594360"/>
            <a:ext cx="113233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맑은 고딕"/>
              </a:rPr>
              <a:t>■ 1. 등록 팝업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3728" y="905256"/>
            <a:ext cx="282549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[추가] 버튼 클릭 시 신규 등록 팝업이 열립니다.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53728" y="1170432"/>
            <a:ext cx="260870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입력 항목은 그리드 컬럼과 동일합니다: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53728" y="1435608"/>
            <a:ext cx="2113407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상위코드, 상위코드명, 코드유형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3728" y="1700784"/>
            <a:ext cx="2113407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사용여부, 하위코드, 하위코드명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53728" y="1965960"/>
            <a:ext cx="1179957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표시순, 표시여부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53728" y="2304288"/>
            <a:ext cx="570357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맑은 고딕"/>
              </a:rPr>
              <a:t>■ 동작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3728" y="2615184"/>
            <a:ext cx="282549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필수 항목(*)을 모두 채운 후 [저장] 버튼을 클릭하여 등록합니다.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3728" y="2880360"/>
            <a:ext cx="282549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[취소] 또는 [✕] 클릭 시 변경사항 없이 닫힙니다.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3728" y="3218688"/>
            <a:ext cx="282549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CC2222"/>
                </a:solidFill>
                <a:latin typeface="맑은 고딕"/>
              </a:rPr>
              <a:t>⚠ 운영자 권한 변경은 시스템 전체에 영향을 주므로 신중하게 등록하세요.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8" y="3483864"/>
            <a:ext cx="282549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CC2222"/>
                </a:solidFill>
                <a:latin typeface="맑은 고딕"/>
              </a:rPr>
              <a:t>⚠ 본 매뉴얼은 팝업 화면을 보여주기 위해 열기만 한 상태입니다.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57432" y="6601968"/>
            <a:ext cx="640080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2D4B73"/>
          </a:solidFill>
          <a:ln w="12700">
            <a:solidFill>
              <a:srgbClr val="2D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" y="0"/>
            <a:ext cx="11914632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공통코드 - 행 선택  [SMCC01]</a:t>
            </a:r>
          </a:p>
        </p:txBody>
      </p:sp>
      <p:pic>
        <p:nvPicPr>
          <p:cNvPr id="4" name="Picture 3" descr="04-row-sel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0100"/>
            <a:ext cx="9144000" cy="5715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1645542"/>
            <a:ext cx="9144000" cy="4875907"/>
          </a:xfrm>
          <a:prstGeom prst="rect">
            <a:avLst/>
          </a:prstGeom>
          <a:noFill/>
          <a:ln w="25400">
            <a:solidFill>
              <a:srgbClr val="1E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Oval 5"/>
          <p:cNvSpPr/>
          <p:nvPr/>
        </p:nvSpPr>
        <p:spPr>
          <a:xfrm>
            <a:off x="18288" y="1549530"/>
            <a:ext cx="384048" cy="384048"/>
          </a:xfrm>
          <a:prstGeom prst="ellipse">
            <a:avLst/>
          </a:prstGeom>
          <a:solidFill>
            <a:srgbClr val="1E64C8"/>
          </a:solidFill>
          <a:ln w="222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457200"/>
            <a:ext cx="30449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253728" y="594360"/>
            <a:ext cx="970407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64C8"/>
                </a:solidFill>
                <a:latin typeface="맑은 고딕"/>
              </a:rPr>
              <a:t>■ 1. 행 선택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53728" y="905256"/>
            <a:ext cx="282549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그리드에서 행을 클릭하면 해당 행이 강조되고 상세 정보가 조회됩니다.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3728" y="1170432"/>
            <a:ext cx="282549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선택된 행은 그리드 안에서 인라인으로 수정 가능합니다.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53728" y="1508760"/>
            <a:ext cx="149428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맑은 고딕"/>
              </a:rPr>
              <a:t>■ 실행 가능한 기능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53728" y="1819656"/>
            <a:ext cx="2761107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행추가, 행저장, 공통코드화, 시스템코드화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3728" y="2084832"/>
            <a:ext cx="960882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사용자코드화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57432" y="6601968"/>
            <a:ext cx="640080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2026-05-06T03:01:08Z</dcterms:created>
  <dcterms:modified xsi:type="dcterms:W3CDTF">2026-05-06T03:01:08Z</dcterms:modified>
</cp:coreProperties>
</file>