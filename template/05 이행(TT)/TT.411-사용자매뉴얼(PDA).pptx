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83" r:id="rId2"/>
    <p:sldId id="538" r:id="rId3"/>
    <p:sldId id="614" r:id="rId4"/>
    <p:sldId id="621" r:id="rId5"/>
    <p:sldId id="622" r:id="rId6"/>
    <p:sldId id="615" r:id="rId7"/>
    <p:sldId id="616" r:id="rId8"/>
    <p:sldId id="617" r:id="rId9"/>
    <p:sldId id="618" r:id="rId10"/>
    <p:sldId id="619" r:id="rId11"/>
    <p:sldId id="620" r:id="rId12"/>
    <p:sldId id="611" r:id="rId13"/>
    <p:sldId id="612" r:id="rId14"/>
    <p:sldId id="613" r:id="rId15"/>
    <p:sldId id="599" r:id="rId16"/>
    <p:sldId id="539" r:id="rId17"/>
    <p:sldId id="600" r:id="rId18"/>
    <p:sldId id="601" r:id="rId19"/>
    <p:sldId id="602" r:id="rId20"/>
    <p:sldId id="590" r:id="rId21"/>
    <p:sldId id="591" r:id="rId22"/>
    <p:sldId id="603" r:id="rId23"/>
    <p:sldId id="604" r:id="rId24"/>
    <p:sldId id="605" r:id="rId25"/>
    <p:sldId id="606" r:id="rId26"/>
    <p:sldId id="607" r:id="rId27"/>
    <p:sldId id="608" r:id="rId28"/>
    <p:sldId id="609" r:id="rId29"/>
    <p:sldId id="610" r:id="rId30"/>
  </p:sldIdLst>
  <p:sldSz cx="12192000" cy="6858000"/>
  <p:notesSz cx="6858000" cy="9144000"/>
  <p:embeddedFontLst>
    <p:embeddedFont>
      <p:font typeface="맑은 고딕" panose="020B0503020000020004" pitchFamily="50" charset="-127"/>
      <p:regular r:id="rId32"/>
      <p:bold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A5210EE-EEA9-43A3-887E-23FC280B422A}">
          <p14:sldIdLst>
            <p14:sldId id="283"/>
            <p14:sldId id="538"/>
          </p14:sldIdLst>
        </p14:section>
        <p14:section name="01. 입고" id="{BCA75096-7351-4480-AFE3-B1F70490172B}">
          <p14:sldIdLst>
            <p14:sldId id="614"/>
            <p14:sldId id="621"/>
            <p14:sldId id="622"/>
            <p14:sldId id="615"/>
            <p14:sldId id="616"/>
            <p14:sldId id="617"/>
            <p14:sldId id="618"/>
            <p14:sldId id="619"/>
            <p14:sldId id="620"/>
          </p14:sldIdLst>
        </p14:section>
        <p14:section name="02. 출고" id="{A7287CEB-11F6-4C13-8F7A-5A3F8BB39780}">
          <p14:sldIdLst>
            <p14:sldId id="611"/>
            <p14:sldId id="612"/>
            <p14:sldId id="613"/>
          </p14:sldIdLst>
        </p14:section>
        <p14:section name="03. 재고조회" id="{568233A7-503C-4BA7-A735-75AC95C95344}">
          <p14:sldIdLst>
            <p14:sldId id="599"/>
            <p14:sldId id="539"/>
            <p14:sldId id="600"/>
          </p14:sldIdLst>
        </p14:section>
        <p14:section name="04. 재고이동" id="{B811537D-C6D1-47AA-AEAE-4C028B2ACEEA}">
          <p14:sldIdLst>
            <p14:sldId id="601"/>
            <p14:sldId id="602"/>
            <p14:sldId id="590"/>
            <p14:sldId id="591"/>
            <p14:sldId id="603"/>
          </p14:sldIdLst>
        </p14:section>
        <p14:section name="05. 재고이동요청" id="{550EDE53-4CC4-4A60-A720-C4A31499DC21}">
          <p14:sldIdLst>
            <p14:sldId id="604"/>
            <p14:sldId id="605"/>
            <p14:sldId id="606"/>
          </p14:sldIdLst>
        </p14:section>
        <p14:section name="06. 재고실사" id="{FA9CA2B8-46DB-4D5D-BB34-3A99D4A96135}">
          <p14:sldIdLst>
            <p14:sldId id="607"/>
            <p14:sldId id="608"/>
            <p14:sldId id="609"/>
            <p14:sldId id="6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FFC"/>
    <a:srgbClr val="6C6C6C"/>
    <a:srgbClr val="6A7B8C"/>
    <a:srgbClr val="F0F0F0"/>
    <a:srgbClr val="D9D9D9"/>
    <a:srgbClr val="6D7A88"/>
    <a:srgbClr val="677787"/>
    <a:srgbClr val="B4D0F2"/>
    <a:srgbClr val="A9C3E0"/>
    <a:srgbClr val="00A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7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F41DF-4609-4AE2-A81B-9624EA3C643B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3A0F2-284B-406A-BB11-5A6C53CEE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48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41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1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67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713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12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0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0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63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48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61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44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A6231-B20E-4CF0-86EA-D155BB77595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21144-A505-4553-A6D4-F94B9BF952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51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7B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8373C0B-F427-4675-BA89-CFB9B987AA21}"/>
              </a:ext>
            </a:extLst>
          </p:cNvPr>
          <p:cNvSpPr txBox="1"/>
          <p:nvPr/>
        </p:nvSpPr>
        <p:spPr>
          <a:xfrm>
            <a:off x="2442602" y="2295817"/>
            <a:ext cx="73068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WMS</a:t>
            </a:r>
            <a:r>
              <a:rPr lang="ko-KR" altLang="en-US" sz="66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구축프로젝트</a:t>
            </a:r>
            <a:endParaRPr lang="en-US" altLang="ko-KR" sz="6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사용자메뉴얼</a:t>
            </a:r>
            <a:r>
              <a:rPr lang="en-US" altLang="ko-KR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(PDA)</a:t>
            </a:r>
            <a:endParaRPr lang="en-US" altLang="ko-KR" sz="2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42141" y="6348983"/>
            <a:ext cx="283633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r" defTabSz="914400" rtl="0" eaLnBrk="1" latinLnBrk="1" hangingPunct="1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altLang="ko-KR" sz="1000" b="1" kern="1200" spc="-5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SCM Solution </a:t>
            </a:r>
            <a:r>
              <a:rPr lang="ko-KR" altLang="en-US" sz="1000" b="1" kern="1200" spc="-5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전문기업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75BED2-650D-41A9-BC14-493BF84B3B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80" b="-2135"/>
          <a:stretch/>
        </p:blipFill>
        <p:spPr>
          <a:xfrm>
            <a:off x="10766854" y="6123757"/>
            <a:ext cx="992397" cy="450452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5119988-7D89-1741-AC84-E9324D1193FA}"/>
              </a:ext>
            </a:extLst>
          </p:cNvPr>
          <p:cNvCxnSpPr>
            <a:cxnSpLocks/>
          </p:cNvCxnSpPr>
          <p:nvPr/>
        </p:nvCxnSpPr>
        <p:spPr>
          <a:xfrm>
            <a:off x="2616251" y="2304000"/>
            <a:ext cx="0" cy="977319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51C332D6-265B-E740-8607-062654FA5027}"/>
              </a:ext>
            </a:extLst>
          </p:cNvPr>
          <p:cNvCxnSpPr>
            <a:cxnSpLocks/>
          </p:cNvCxnSpPr>
          <p:nvPr/>
        </p:nvCxnSpPr>
        <p:spPr>
          <a:xfrm>
            <a:off x="9574440" y="2304000"/>
            <a:ext cx="0" cy="977319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20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5C409B-881B-484E-89C0-B371A7B01706}"/>
              </a:ext>
            </a:extLst>
          </p:cNvPr>
          <p:cNvSpPr/>
          <p:nvPr/>
        </p:nvSpPr>
        <p:spPr>
          <a:xfrm>
            <a:off x="0" y="0"/>
            <a:ext cx="3646373" cy="6932815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8683608" y="6511140"/>
            <a:ext cx="283633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r" defTabSz="914400" rtl="0" eaLnBrk="1" latinLnBrk="1" hangingPunct="1"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altLang="ko-KR" sz="1000" b="1" kern="1200" spc="-5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SCM Solution </a:t>
            </a:r>
            <a:r>
              <a:rPr lang="ko-KR" altLang="en-US" sz="1000" b="1" kern="1200" spc="-5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전문기업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375BED2-650D-41A9-BC14-493BF84B3B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80" b="-2135"/>
          <a:stretch/>
        </p:blipFill>
        <p:spPr>
          <a:xfrm>
            <a:off x="11508576" y="6487573"/>
            <a:ext cx="581397" cy="263898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E824F228-AEF0-4E41-B50C-ED24F189CA9E}"/>
              </a:ext>
            </a:extLst>
          </p:cNvPr>
          <p:cNvGrpSpPr/>
          <p:nvPr/>
        </p:nvGrpSpPr>
        <p:grpSpPr>
          <a:xfrm>
            <a:off x="695303" y="2971800"/>
            <a:ext cx="2206337" cy="914400"/>
            <a:chOff x="426027" y="631767"/>
            <a:chExt cx="2206337" cy="9144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9F2AFF-4AD1-CF44-9FB9-495773A5E9D0}"/>
                </a:ext>
              </a:extLst>
            </p:cNvPr>
            <p:cNvSpPr txBox="1"/>
            <p:nvPr/>
          </p:nvSpPr>
          <p:spPr>
            <a:xfrm>
              <a:off x="615142" y="631767"/>
              <a:ext cx="1853738" cy="9144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en-US" altLang="x-none" sz="36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Contents</a:t>
              </a:r>
              <a:endParaRPr kumimoji="1" lang="x-none" altLang="en-US" sz="3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2" name="직선 연결선[R] 11">
              <a:extLst>
                <a:ext uri="{FF2B5EF4-FFF2-40B4-BE49-F238E27FC236}">
                  <a16:creationId xmlns:a16="http://schemas.microsoft.com/office/drawing/2014/main" id="{A1293A62-ED7A-CD4E-9518-46DED508D3F0}"/>
                </a:ext>
              </a:extLst>
            </p:cNvPr>
            <p:cNvCxnSpPr>
              <a:cxnSpLocks/>
            </p:cNvCxnSpPr>
            <p:nvPr/>
          </p:nvCxnSpPr>
          <p:spPr>
            <a:xfrm>
              <a:off x="2632364" y="890837"/>
              <a:ext cx="0" cy="44959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[R] 13">
              <a:extLst>
                <a:ext uri="{FF2B5EF4-FFF2-40B4-BE49-F238E27FC236}">
                  <a16:creationId xmlns:a16="http://schemas.microsoft.com/office/drawing/2014/main" id="{110BF4E4-57F9-CD49-BD60-4FEA7DA365A9}"/>
                </a:ext>
              </a:extLst>
            </p:cNvPr>
            <p:cNvCxnSpPr>
              <a:cxnSpLocks/>
            </p:cNvCxnSpPr>
            <p:nvPr/>
          </p:nvCxnSpPr>
          <p:spPr>
            <a:xfrm>
              <a:off x="426027" y="890837"/>
              <a:ext cx="0" cy="44959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>
            <a:off x="4074473" y="1578065"/>
            <a:ext cx="2667134" cy="690476"/>
            <a:chOff x="5449386" y="1133205"/>
            <a:chExt cx="2667134" cy="69047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2DDA26C-6F90-EB48-BDAC-0EBA3D4F3C6B}"/>
                </a:ext>
              </a:extLst>
            </p:cNvPr>
            <p:cNvSpPr txBox="1"/>
            <p:nvPr/>
          </p:nvSpPr>
          <p:spPr>
            <a:xfrm>
              <a:off x="5449386" y="1133205"/>
              <a:ext cx="427388" cy="571501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kumimoji="1" lang="en-US" altLang="ko-KR" sz="4800" b="1" dirty="0" smtClean="0">
                  <a:solidFill>
                    <a:srgbClr val="6D7A8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</a:t>
              </a:r>
              <a:endParaRPr kumimoji="1" lang="x-none" altLang="en-US" sz="3200" b="1" dirty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AFF7DFD-BF79-0848-877D-F2EA1BBD58C6}"/>
                </a:ext>
              </a:extLst>
            </p:cNvPr>
            <p:cNvSpPr txBox="1"/>
            <p:nvPr/>
          </p:nvSpPr>
          <p:spPr>
            <a:xfrm>
              <a:off x="6140886" y="1238156"/>
              <a:ext cx="1975634" cy="344978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ko-KR" altLang="en-US" dirty="0" smtClean="0">
                  <a:solidFill>
                    <a:srgbClr val="6C6C6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</a:t>
              </a:r>
              <a:endParaRPr kumimoji="1" lang="x-none" altLang="en-US" dirty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8D1FA2-5945-F848-BDE4-751CA68FF9CB}"/>
                </a:ext>
              </a:extLst>
            </p:cNvPr>
            <p:cNvSpPr txBox="1"/>
            <p:nvPr/>
          </p:nvSpPr>
          <p:spPr>
            <a:xfrm>
              <a:off x="6140886" y="1585730"/>
              <a:ext cx="1975634" cy="237951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en-US" altLang="x-none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|</a:t>
              </a:r>
              <a:r>
                <a:rPr kumimoji="1"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1" lang="ko-KR" alt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입고처리</a:t>
              </a:r>
              <a:endParaRPr kumimoji="1" lang="x-none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6647600" y="1581367"/>
            <a:ext cx="2655814" cy="680085"/>
            <a:chOff x="5455656" y="2060567"/>
            <a:chExt cx="2655814" cy="68008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56EB65-566E-0B4D-8243-8804AE4D749F}"/>
                </a:ext>
              </a:extLst>
            </p:cNvPr>
            <p:cNvSpPr txBox="1"/>
            <p:nvPr/>
          </p:nvSpPr>
          <p:spPr>
            <a:xfrm>
              <a:off x="5455656" y="2060567"/>
              <a:ext cx="427388" cy="571501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kumimoji="1" lang="en-US" altLang="ko-KR" sz="4800" b="1" dirty="0" smtClean="0">
                  <a:solidFill>
                    <a:srgbClr val="6D7A8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02</a:t>
              </a:r>
              <a:endParaRPr kumimoji="1" lang="x-none" altLang="en-US" sz="3200" b="1" dirty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640A15D-18C3-BE42-980C-638F15EDB7CD}"/>
                </a:ext>
              </a:extLst>
            </p:cNvPr>
            <p:cNvSpPr txBox="1"/>
            <p:nvPr/>
          </p:nvSpPr>
          <p:spPr>
            <a:xfrm>
              <a:off x="6135836" y="2160914"/>
              <a:ext cx="1975634" cy="344978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ko-KR" altLang="en-US" dirty="0" smtClean="0">
                  <a:solidFill>
                    <a:srgbClr val="6C6C6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endParaRPr kumimoji="1" lang="x-none" altLang="en-US" dirty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71803FB-AB23-3247-AD50-B8EE483EA87F}"/>
                </a:ext>
              </a:extLst>
            </p:cNvPr>
            <p:cNvSpPr txBox="1"/>
            <p:nvPr/>
          </p:nvSpPr>
          <p:spPr>
            <a:xfrm>
              <a:off x="6135836" y="2502701"/>
              <a:ext cx="1975634" cy="237951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en-US" altLang="x-none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| </a:t>
              </a:r>
              <a:r>
                <a:rPr kumimoji="1" lang="ko-KR" alt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출고처리</a:t>
              </a:r>
              <a:endParaRPr kumimoji="1" lang="x-none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9285013" y="1570676"/>
            <a:ext cx="2662085" cy="668825"/>
            <a:chOff x="5450840" y="3000376"/>
            <a:chExt cx="2662085" cy="66882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64B5FAF-E139-E949-A7B1-81420CAF05F8}"/>
                </a:ext>
              </a:extLst>
            </p:cNvPr>
            <p:cNvSpPr txBox="1"/>
            <p:nvPr/>
          </p:nvSpPr>
          <p:spPr>
            <a:xfrm>
              <a:off x="5450840" y="3000376"/>
              <a:ext cx="427388" cy="571501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kumimoji="1" lang="en-US" altLang="ko-KR" sz="4800" b="1" dirty="0" smtClean="0">
                  <a:solidFill>
                    <a:srgbClr val="6D7A8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03</a:t>
              </a:r>
              <a:endParaRPr kumimoji="1" lang="x-none" altLang="en-US" sz="3200" b="1" dirty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994586-6BD7-1E4A-A468-6A2A4B37E427}"/>
                </a:ext>
              </a:extLst>
            </p:cNvPr>
            <p:cNvSpPr txBox="1"/>
            <p:nvPr/>
          </p:nvSpPr>
          <p:spPr>
            <a:xfrm>
              <a:off x="6137290" y="3083676"/>
              <a:ext cx="1975634" cy="344978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ko-KR" altLang="en-US" dirty="0" smtClean="0">
                  <a:solidFill>
                    <a:srgbClr val="6C6C6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재고조회</a:t>
              </a:r>
              <a:endParaRPr kumimoji="1" lang="x-none" altLang="en-US" dirty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EDF8180-3D11-D046-AB1E-C26C48DD5D14}"/>
                </a:ext>
              </a:extLst>
            </p:cNvPr>
            <p:cNvSpPr txBox="1"/>
            <p:nvPr/>
          </p:nvSpPr>
          <p:spPr>
            <a:xfrm>
              <a:off x="6137291" y="3431250"/>
              <a:ext cx="1975634" cy="237951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en-US" altLang="x-none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| </a:t>
              </a:r>
              <a:r>
                <a:rPr kumimoji="1" lang="ko-KR" alt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품목 위치 조회</a:t>
              </a:r>
              <a:endParaRPr kumimoji="1" lang="x-none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4072412" y="2591420"/>
            <a:ext cx="2662084" cy="690476"/>
            <a:chOff x="5449386" y="4811853"/>
            <a:chExt cx="2662084" cy="69047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720D905-25D1-C649-B42F-40E8A0475538}"/>
                </a:ext>
              </a:extLst>
            </p:cNvPr>
            <p:cNvSpPr txBox="1"/>
            <p:nvPr/>
          </p:nvSpPr>
          <p:spPr>
            <a:xfrm>
              <a:off x="5449386" y="4811853"/>
              <a:ext cx="427388" cy="571501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kumimoji="1" lang="en-US" altLang="ko-KR" sz="4800" b="1" smtClean="0">
                  <a:solidFill>
                    <a:srgbClr val="6D7A8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04</a:t>
              </a:r>
              <a:endParaRPr kumimoji="1" lang="x-none" altLang="en-US" sz="3200" b="1" dirty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CD36CE-FDFD-3447-B6AF-1FDAC33487FF}"/>
                </a:ext>
              </a:extLst>
            </p:cNvPr>
            <p:cNvSpPr txBox="1"/>
            <p:nvPr/>
          </p:nvSpPr>
          <p:spPr>
            <a:xfrm>
              <a:off x="6135836" y="4916804"/>
              <a:ext cx="1975634" cy="344978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ko-KR" altLang="en-US" dirty="0" smtClean="0">
                  <a:solidFill>
                    <a:srgbClr val="6C6C6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</a:t>
              </a:r>
              <a:endParaRPr kumimoji="1" lang="x-none" altLang="en-US" dirty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A69C22B-E89D-2345-8186-2A8F11045D4D}"/>
                </a:ext>
              </a:extLst>
            </p:cNvPr>
            <p:cNvSpPr txBox="1"/>
            <p:nvPr/>
          </p:nvSpPr>
          <p:spPr>
            <a:xfrm>
              <a:off x="6135836" y="5264378"/>
              <a:ext cx="1975634" cy="237951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en-US" altLang="x-none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| One-Step </a:t>
              </a:r>
              <a:r>
                <a:rPr kumimoji="1"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</a:rPr>
                <a:t>이동</a:t>
              </a:r>
              <a:endParaRPr kumimoji="1" lang="x-none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6647600" y="2559355"/>
            <a:ext cx="2667134" cy="698786"/>
            <a:chOff x="5461926" y="217439"/>
            <a:chExt cx="2667134" cy="69878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202EA53-002D-804C-A94B-70C0DEBEFF5B}"/>
                </a:ext>
              </a:extLst>
            </p:cNvPr>
            <p:cNvSpPr txBox="1"/>
            <p:nvPr/>
          </p:nvSpPr>
          <p:spPr>
            <a:xfrm>
              <a:off x="5461926" y="217439"/>
              <a:ext cx="427388" cy="571501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kumimoji="1" lang="en-US" altLang="ko-KR" sz="4800" b="1" smtClean="0">
                  <a:solidFill>
                    <a:srgbClr val="6D7A8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05</a:t>
              </a:r>
              <a:endParaRPr kumimoji="1" lang="x-none" altLang="en-US" sz="3200" b="1" dirty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6254CBC-64E8-FC4D-BDA6-2E94557005BD}"/>
                </a:ext>
              </a:extLst>
            </p:cNvPr>
            <p:cNvSpPr txBox="1"/>
            <p:nvPr/>
          </p:nvSpPr>
          <p:spPr>
            <a:xfrm>
              <a:off x="6153426" y="330700"/>
              <a:ext cx="1975634" cy="344978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ko-KR" altLang="en-US" dirty="0" smtClean="0">
                  <a:solidFill>
                    <a:srgbClr val="6C6C6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재고이동요청</a:t>
              </a:r>
              <a:endParaRPr kumimoji="1" lang="x-none" altLang="en-US" dirty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AE66447-F318-3F40-85E4-DAABC3086A55}"/>
                </a:ext>
              </a:extLst>
            </p:cNvPr>
            <p:cNvSpPr txBox="1"/>
            <p:nvPr/>
          </p:nvSpPr>
          <p:spPr>
            <a:xfrm>
              <a:off x="6153426" y="678274"/>
              <a:ext cx="1975634" cy="237951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en-US" altLang="x-none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| </a:t>
              </a:r>
              <a:r>
                <a:rPr kumimoji="1" lang="ko-KR" altLang="en-US" sz="12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요청건</a:t>
              </a:r>
              <a:r>
                <a:rPr kumimoji="1" lang="ko-KR" alt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이동 </a:t>
              </a:r>
              <a:endParaRPr kumimoji="1" lang="x-none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9222788" y="2591420"/>
            <a:ext cx="2667134" cy="690476"/>
            <a:chOff x="5449386" y="1133205"/>
            <a:chExt cx="2667134" cy="69047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2DDA26C-6F90-EB48-BDAC-0EBA3D4F3C6B}"/>
                </a:ext>
              </a:extLst>
            </p:cNvPr>
            <p:cNvSpPr txBox="1"/>
            <p:nvPr/>
          </p:nvSpPr>
          <p:spPr>
            <a:xfrm>
              <a:off x="5449386" y="1133205"/>
              <a:ext cx="427388" cy="571501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kumimoji="1" lang="en-US" altLang="ko-KR" sz="4800" b="1" smtClean="0">
                  <a:solidFill>
                    <a:srgbClr val="6D7A8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06</a:t>
              </a:r>
              <a:endParaRPr kumimoji="1" lang="x-none" altLang="en-US" sz="3200" b="1" dirty="0">
                <a:solidFill>
                  <a:srgbClr val="6D7A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AFF7DFD-BF79-0848-877D-F2EA1BBD58C6}"/>
                </a:ext>
              </a:extLst>
            </p:cNvPr>
            <p:cNvSpPr txBox="1"/>
            <p:nvPr/>
          </p:nvSpPr>
          <p:spPr>
            <a:xfrm>
              <a:off x="6140886" y="1238156"/>
              <a:ext cx="1975634" cy="344978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ko-KR" altLang="en-US" dirty="0" smtClean="0">
                  <a:solidFill>
                    <a:srgbClr val="6C6C6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재고실사</a:t>
              </a:r>
              <a:endParaRPr kumimoji="1" lang="x-none" altLang="en-US" dirty="0">
                <a:solidFill>
                  <a:srgbClr val="6C6C6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D8D1FA2-5945-F848-BDE4-751CA68FF9CB}"/>
                </a:ext>
              </a:extLst>
            </p:cNvPr>
            <p:cNvSpPr txBox="1"/>
            <p:nvPr/>
          </p:nvSpPr>
          <p:spPr>
            <a:xfrm>
              <a:off x="6140886" y="1585730"/>
              <a:ext cx="1975634" cy="237951"/>
            </a:xfrm>
            <a:prstGeom prst="rect">
              <a:avLst/>
            </a:prstGeom>
            <a:noFill/>
          </p:spPr>
          <p:txBody>
            <a:bodyPr wrap="none" numCol="1" rtlCol="0">
              <a:noAutofit/>
            </a:bodyPr>
            <a:lstStyle/>
            <a:p>
              <a:r>
                <a:rPr kumimoji="1" lang="en-US" altLang="x-none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| </a:t>
              </a:r>
              <a:r>
                <a:rPr kumimoji="1" lang="ko-KR" altLang="en-US" sz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실재고 조사</a:t>
              </a:r>
              <a:endParaRPr kumimoji="1" lang="x-none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345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78" y="1523727"/>
            <a:ext cx="2886370" cy="494366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459977" y="1676241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639010" y="273803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입고목록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입고예정 건 조회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입고번호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 또는 입고지시서의 바코드 스캔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입고지시서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 시 해당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입고 건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필터링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 시 입력한 출고번호 초기화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 시 바코드 스캐너 실행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 시 검색 필터 오픈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 건 클릭 시 품목 화면으로 이동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438" y="2717691"/>
            <a:ext cx="216942" cy="21694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751" y="2992649"/>
            <a:ext cx="216942" cy="216942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186" y="1676241"/>
            <a:ext cx="211966" cy="21196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751" y="3275923"/>
            <a:ext cx="216942" cy="216942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64DBEAA2-2D66-5D41-A7B1-20653190682D}"/>
              </a:ext>
            </a:extLst>
          </p:cNvPr>
          <p:cNvSpPr/>
          <p:nvPr/>
        </p:nvSpPr>
        <p:spPr>
          <a:xfrm rot="10800000" flipV="1">
            <a:off x="2740961" y="188889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2450879" y="188820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2993445" y="188889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7"/>
          <a:srcRect l="498" r="709"/>
          <a:stretch/>
        </p:blipFill>
        <p:spPr>
          <a:xfrm>
            <a:off x="3613150" y="1523727"/>
            <a:ext cx="2844800" cy="494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3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26" y="1523727"/>
            <a:ext cx="2886085" cy="4947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803574" y="121718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명세표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촬영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 시 카메라 화면이 표시되며 명세표 </a:t>
            </a:r>
            <a:r>
              <a: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촬영이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가능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/>
            </a:r>
            <a:b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</a:b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촬영한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명세표는 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PC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입고현황에서 </a:t>
            </a:r>
            <a:r>
              <a: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확인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가능</a:t>
            </a:r>
            <a:r>
              <a:rPr kumimoji="1"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/>
            </a:r>
            <a:br>
              <a:rPr kumimoji="1"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</a:br>
            <a:r>
              <a:rPr kumimoji="1"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다음 장에서 사진 촬영 방법 설명</a:t>
            </a:r>
            <a:endParaRPr kumimoji="1" lang="en-US" altLang="ko-KR" sz="12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578153" y="195988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389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62007" y="1345899"/>
            <a:ext cx="2880000" cy="5040000"/>
          </a:xfrm>
          <a:prstGeom prst="rect">
            <a:avLst/>
          </a:prstGeom>
        </p:spPr>
      </p:pic>
      <p:pic>
        <p:nvPicPr>
          <p:cNvPr id="33" name="그림 32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9272" y="1345899"/>
            <a:ext cx="2880000" cy="5040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803574" y="121718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거래명세표 촬영 화면</a:t>
            </a: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카메라 기능으로 거래명세표 촬영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en-US" altLang="ko-KR" sz="1200" b="1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kumimoji="1" lang="ko-KR" altLang="en-US" sz="1200" b="1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사진만 찍은 상태에선 저장 안됌</a:t>
            </a:r>
            <a:r>
              <a:rPr kumimoji="1" lang="en-US" altLang="ko-KR" sz="1200" b="1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찍고싶을 경우 재촬영</a:t>
            </a: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다시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작업먼저 하고 싶을 경우 취소</a:t>
            </a: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en-US" altLang="ko-KR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[</a:t>
            </a:r>
            <a:r>
              <a:rPr kumimoji="1"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저장</a:t>
            </a:r>
            <a:r>
              <a:rPr kumimoji="1" lang="en-US" altLang="ko-KR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 </a:t>
            </a:r>
            <a:r>
              <a:rPr kumimoji="1"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촬영한 거래명세표 저장</a:t>
            </a:r>
            <a:endParaRPr kumimoji="1" lang="en-US" altLang="ko-KR" sz="1200" b="1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5129256" y="566750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4DBEAA2-2D66-5D41-A7B1-20653190682D}"/>
              </a:ext>
            </a:extLst>
          </p:cNvPr>
          <p:cNvSpPr/>
          <p:nvPr/>
        </p:nvSpPr>
        <p:spPr>
          <a:xfrm rot="10800000" flipV="1">
            <a:off x="6215070" y="566750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4078251" y="566750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cxnSp>
        <p:nvCxnSpPr>
          <p:cNvPr id="28" name="꺾인 연결선 27"/>
          <p:cNvCxnSpPr/>
          <p:nvPr/>
        </p:nvCxnSpPr>
        <p:spPr>
          <a:xfrm flipV="1">
            <a:off x="2826293" y="3492500"/>
            <a:ext cx="889774" cy="2919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1960996" y="557938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9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421" y="1529544"/>
            <a:ext cx="2812884" cy="494206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26" y="1523727"/>
            <a:ext cx="2886085" cy="494788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10136693" y="4361025"/>
            <a:ext cx="830580" cy="240816"/>
          </a:xfrm>
          <a:prstGeom prst="rect">
            <a:avLst/>
          </a:prstGeom>
          <a:solidFill>
            <a:srgbClr val="D4E9F7">
              <a:alpha val="69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803574" y="121718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실입고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건 처리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스캔 또는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품목바코드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‘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기준정보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‘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에서 등록한 상품식별코드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WMS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채번한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번호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별 처리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현황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 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기처리수량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 처리한 수량</a:t>
            </a:r>
            <a:endParaRPr kumimoji="1"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 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미처리수량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요청수량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 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요청수량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요청수량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바코드 스캔 또는 입력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스캔한 재고로 자동 스크롤 및 활성화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파란색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배경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SKU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미발행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상태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 시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생성 가능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 수량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터치하여 변경 가능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수량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품온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코드에 따른 창고와 위치 표시 선택하여 변경 가능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처리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 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활성화된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목록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입고 처리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636233" y="305974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4DBEAA2-2D66-5D41-A7B1-20653190682D}"/>
              </a:ext>
            </a:extLst>
          </p:cNvPr>
          <p:cNvSpPr/>
          <p:nvPr/>
        </p:nvSpPr>
        <p:spPr>
          <a:xfrm rot="10800000" flipV="1">
            <a:off x="1825440" y="428917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971727" y="428917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2608332" y="428917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5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27941" y="288348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A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5616577" y="302901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B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cxnSp>
        <p:nvCxnSpPr>
          <p:cNvPr id="28" name="꺾인 연결선 27"/>
          <p:cNvCxnSpPr/>
          <p:nvPr/>
        </p:nvCxnSpPr>
        <p:spPr>
          <a:xfrm flipV="1">
            <a:off x="2826293" y="3492500"/>
            <a:ext cx="889774" cy="2919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955877" y="369632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smtClean="0">
                <a:ea typeface="나눔스퀘어 Bold" panose="020B0600000101010101" pitchFamily="50" charset="-127"/>
              </a:rPr>
              <a:t>C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5682480" y="496850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D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316" y="5708367"/>
            <a:ext cx="465667" cy="269214"/>
          </a:xfrm>
          <a:prstGeom prst="rect">
            <a:avLst/>
          </a:prstGeom>
        </p:spPr>
      </p:pic>
      <p:sp>
        <p:nvSpPr>
          <p:cNvPr id="32" name="타원 3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480446" y="530466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smtClean="0">
                <a:ea typeface="나눔스퀘어 Bold" panose="020B0600000101010101" pitchFamily="50" charset="-127"/>
              </a:rPr>
              <a:t>E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686946" y="612958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F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548105" y="254784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035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26" y="1523727"/>
            <a:ext cx="2886085" cy="49478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943" y="1523728"/>
            <a:ext cx="2923920" cy="494787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848533" y="119472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실입고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건 처리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소비기한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LOT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후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SKU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버튼 클릭 시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생성됨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생성된 품목은         상태로 변경 됨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1522066" y="612958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cxnSp>
        <p:nvCxnSpPr>
          <p:cNvPr id="28" name="꺾인 연결선 27"/>
          <p:cNvCxnSpPr/>
          <p:nvPr/>
        </p:nvCxnSpPr>
        <p:spPr>
          <a:xfrm rot="5400000" flipH="1" flipV="1">
            <a:off x="2990464" y="3235972"/>
            <a:ext cx="3016418" cy="294706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627" y="2448861"/>
            <a:ext cx="400106" cy="238158"/>
          </a:xfrm>
          <a:prstGeom prst="rect">
            <a:avLst/>
          </a:prstGeom>
        </p:spPr>
      </p:pic>
      <p:sp>
        <p:nvSpPr>
          <p:cNvPr id="33" name="타원 32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5629246" y="302503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03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44" y="1523727"/>
            <a:ext cx="3003819" cy="494788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26" y="1523727"/>
            <a:ext cx="2886085" cy="4947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08637" y="1274612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건 처리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/SKU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바코드 스캔 또는 입력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품목바코드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‘</a:t>
            </a:r>
            <a:r>
              <a:rPr kumimoji="1"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기준정보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‘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에서 등록한 상품식별코드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SKU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바코드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WMS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에서 </a:t>
            </a:r>
            <a:r>
              <a:rPr kumimoji="1"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채번한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별 처리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현황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가입고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PC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가입고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처리한 품목을 의미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검수수량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처리된 수량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미검수량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처리 되지않은 수량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소비기한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입력란 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LOT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번호 입력란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검수 수량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터치하여 변경 가능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검수 수량의 합은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요청수량의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합을 초과할 수 없음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AutoNum type="alphaUcParenR" startAt="4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검수 총 수량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alphaUcParenR" startAt="4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       클릭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일괄 검수 처리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452481" y="229013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4DBEAA2-2D66-5D41-A7B1-20653190682D}"/>
              </a:ext>
            </a:extLst>
          </p:cNvPr>
          <p:cNvSpPr/>
          <p:nvPr/>
        </p:nvSpPr>
        <p:spPr>
          <a:xfrm rot="10800000" flipV="1">
            <a:off x="2525435" y="458876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470526" y="443593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2596387" y="555975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5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946710" y="555975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4</a:t>
            </a:r>
            <a:endParaRPr lang="en-US" altLang="ko-KR" sz="1000" dirty="0" smtClean="0"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69759" y="315685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A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74021" y="342820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B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cxnSp>
        <p:nvCxnSpPr>
          <p:cNvPr id="28" name="꺾인 연결선 27"/>
          <p:cNvCxnSpPr/>
          <p:nvPr/>
        </p:nvCxnSpPr>
        <p:spPr>
          <a:xfrm flipV="1">
            <a:off x="2826293" y="3492500"/>
            <a:ext cx="889774" cy="2919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69759" y="368351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C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55716" y="579691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D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983367" y="612958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E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998" y="5833952"/>
            <a:ext cx="452464" cy="27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7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716" y="1593785"/>
            <a:ext cx="2942550" cy="489959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71" y="1545494"/>
            <a:ext cx="3003819" cy="4947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08637" y="1274612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품목분할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가입고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실입고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건을 선택 후 활성화된 품목의       버튼 클릭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가입고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건을 분할 시 미검수량으로 표시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실입고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건 분할 시 요청수량으로 표시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alphaUcParenR" startAt="2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분할 수량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터치하여 변경 가능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alphaUcParenR" startAt="2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신규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소비기한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입력란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alphaUcParenR" startAt="2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  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 시 분할 처리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657855" y="321317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198265" y="321317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B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475631" y="378444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C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cxnSp>
        <p:nvCxnSpPr>
          <p:cNvPr id="28" name="꺾인 연결선 27"/>
          <p:cNvCxnSpPr/>
          <p:nvPr/>
        </p:nvCxnSpPr>
        <p:spPr>
          <a:xfrm flipV="1">
            <a:off x="3127424" y="3003259"/>
            <a:ext cx="428292" cy="29804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965273" y="434780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D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651887" y="616411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E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7357" y="2235363"/>
            <a:ext cx="276264" cy="285790"/>
          </a:xfrm>
          <a:prstGeom prst="rect">
            <a:avLst/>
          </a:prstGeom>
        </p:spPr>
      </p:pic>
      <p:sp>
        <p:nvSpPr>
          <p:cNvPr id="33" name="타원 3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563758" y="282700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A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514" y="3876539"/>
            <a:ext cx="504895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7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716" y="1537415"/>
            <a:ext cx="2994665" cy="495596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45" y="1537415"/>
            <a:ext cx="3020038" cy="49559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08637" y="1274612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입고처리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취소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기처리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내역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입고건의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클릭 시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기처리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내역이 활성화 됨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처리취소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하고자 하는 품목을 선택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   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클릭하여 처리 취소 진행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348012" y="386232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cxnSp>
        <p:nvCxnSpPr>
          <p:cNvPr id="28" name="꺾인 연결선 27"/>
          <p:cNvCxnSpPr/>
          <p:nvPr/>
        </p:nvCxnSpPr>
        <p:spPr>
          <a:xfrm flipV="1">
            <a:off x="3127424" y="3003259"/>
            <a:ext cx="428292" cy="29804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651887" y="616411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B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700734" y="284653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A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136" y="2271702"/>
            <a:ext cx="840992" cy="21749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066" y="2806056"/>
            <a:ext cx="609685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2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041" y="1529398"/>
            <a:ext cx="2937013" cy="481097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87" y="1533216"/>
            <a:ext cx="2932026" cy="48071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08637" y="1274612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검수처리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취소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검수 내역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입고 건의             클릭 시 검수 내역이 활성화 됨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분할된 품목의 경우 분할된 품목 리스트가 모두 표시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   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클릭하여 일괄 검수 취소 진행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428343" y="517264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cxnSp>
        <p:nvCxnSpPr>
          <p:cNvPr id="28" name="꺾인 연결선 27"/>
          <p:cNvCxnSpPr/>
          <p:nvPr/>
        </p:nvCxnSpPr>
        <p:spPr>
          <a:xfrm flipV="1">
            <a:off x="3127424" y="3003259"/>
            <a:ext cx="428292" cy="29804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680462" y="600219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B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700734" y="284653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A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055" y="2262171"/>
            <a:ext cx="647790" cy="23815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350" y="2819505"/>
            <a:ext cx="541236" cy="23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2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832" y="1523727"/>
            <a:ext cx="2872670" cy="4943664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84" y="1523727"/>
            <a:ext cx="2872670" cy="4943664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504560" y="178629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4DBEAA2-2D66-5D41-A7B1-20653190682D}"/>
              </a:ext>
            </a:extLst>
          </p:cNvPr>
          <p:cNvSpPr/>
          <p:nvPr/>
        </p:nvSpPr>
        <p:spPr>
          <a:xfrm rot="10800000" flipV="1">
            <a:off x="2589137" y="178222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2317913" y="178222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2844125" y="178222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459977" y="251801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출고목록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출고예정 건 조회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출고번호 입력 또는 출고지시서의 바코드 스캔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출고지시서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 시 해당 출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고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 필터링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 시 입력한 출고번호 초기화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 시 바코드 스캐너 실행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 시 검색 필터 오픈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 건 클릭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 품목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화면으로 이동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438" y="2717691"/>
            <a:ext cx="216942" cy="21694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751" y="2992649"/>
            <a:ext cx="216942" cy="21694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751" y="3275923"/>
            <a:ext cx="216942" cy="216942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52" y="1947691"/>
            <a:ext cx="211966" cy="2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1039468" y="4656286"/>
            <a:ext cx="830580" cy="240816"/>
          </a:xfrm>
          <a:prstGeom prst="rect">
            <a:avLst/>
          </a:prstGeom>
          <a:solidFill>
            <a:srgbClr val="D4E9F7">
              <a:alpha val="69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처리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/SKU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</a:t>
            </a:r>
            <a:endParaRPr kumimoji="1"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품목바코드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‘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기준정보 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‘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에서 등록한 상품식별코드</a:t>
            </a: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SKU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WMS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채번한 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SKU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번호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 별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 현황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기처리수량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처리한 수량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미처리수량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남은 요청수량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요청수량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요청수량</a:t>
            </a: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SKU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바코드 스캔 또는 입력</a:t>
            </a: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스캔한 재고로 자동 스크롤 및 활성화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    </a:t>
            </a:r>
            <a:r>
              <a: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표시 및 파란색 배경</a:t>
            </a:r>
            <a:r>
              <a:rPr kumimoji="1"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 별 처리 목록</a:t>
            </a:r>
            <a:endParaRPr kumimoji="1"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 목록 진입 시 기본으로 모두 활성화</a:t>
            </a:r>
            <a:endParaRPr kumimoji="1"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 수량</a:t>
            </a:r>
            <a:r>
              <a:rPr kumimoji="1" lang="en-US" altLang="ko-KR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터치하여 변경 가능</a:t>
            </a:r>
            <a:endParaRPr kumimoji="1" lang="en-US" altLang="ko-KR" sz="120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 가능 수량</a:t>
            </a:r>
            <a:endParaRPr kumimoji="1"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처리 </a:t>
            </a:r>
            <a:r>
              <a: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 시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활성화된 </a:t>
            </a:r>
            <a:r>
              <a:rPr kumimoji="1"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목록 출고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</a:t>
            </a:r>
            <a:endParaRPr kumimoji="1"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422" y="1523795"/>
            <a:ext cx="2875080" cy="4947812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84" y="1523727"/>
            <a:ext cx="2872670" cy="4943664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452481" y="229013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4DBEAA2-2D66-5D41-A7B1-20653190682D}"/>
              </a:ext>
            </a:extLst>
          </p:cNvPr>
          <p:cNvSpPr/>
          <p:nvPr/>
        </p:nvSpPr>
        <p:spPr>
          <a:xfrm rot="10800000" flipV="1">
            <a:off x="599646" y="350897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479114" y="285294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1433716" y="350051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338264" y="350897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5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27941" y="288348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A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96422" y="335896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B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cxnSp>
        <p:nvCxnSpPr>
          <p:cNvPr id="28" name="꺾인 연결선 27"/>
          <p:cNvCxnSpPr>
            <a:endCxn id="31" idx="6"/>
          </p:cNvCxnSpPr>
          <p:nvPr/>
        </p:nvCxnSpPr>
        <p:spPr>
          <a:xfrm rot="5400000" flipH="1" flipV="1">
            <a:off x="2183447" y="4452506"/>
            <a:ext cx="2418391" cy="40756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5827324" y="503536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smtClean="0">
                <a:ea typeface="나눔스퀘어 Bold" panose="020B0600000101010101" pitchFamily="50" charset="-127"/>
              </a:rPr>
              <a:t>C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5927609" y="539942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>
                <a:ea typeface="나눔스퀘어 Bold" panose="020B0600000101010101" pitchFamily="50" charset="-127"/>
              </a:rPr>
              <a:t>D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466" y="5994975"/>
            <a:ext cx="465667" cy="26921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86" y="4700338"/>
            <a:ext cx="154461" cy="154461"/>
          </a:xfrm>
          <a:prstGeom prst="rect">
            <a:avLst/>
          </a:prstGeom>
        </p:spPr>
      </p:pic>
      <p:sp>
        <p:nvSpPr>
          <p:cNvPr id="32" name="타원 3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700096" y="6176061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smtClean="0">
                <a:ea typeface="나눔스퀘어 Bold" panose="020B0600000101010101" pitchFamily="50" charset="-127"/>
              </a:rPr>
              <a:t>E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285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426" y="1523869"/>
            <a:ext cx="2877666" cy="4952262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49" y="1523869"/>
            <a:ext cx="2877666" cy="4952262"/>
          </a:xfrm>
          <a:prstGeom prst="rect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1541731" y="355098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3632679" y="186996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 건 처리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출고내역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존재 시           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활성화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</a:t>
            </a:r>
            <a:r>
              <a:rPr kumimoji="1" lang="ko-KR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품목의 출고내역 상세팝업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꺾인 연결선 29"/>
          <p:cNvCxnSpPr>
            <a:endCxn id="9" idx="1"/>
          </p:cNvCxnSpPr>
          <p:nvPr/>
        </p:nvCxnSpPr>
        <p:spPr>
          <a:xfrm flipV="1">
            <a:off x="1394154" y="4000000"/>
            <a:ext cx="2197272" cy="165817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694" y="2206047"/>
            <a:ext cx="733281" cy="18332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969" y="2482272"/>
            <a:ext cx="733281" cy="18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5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품목탭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품목재고 조회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품목번호 및 품목명 입력 또는 바코드 스캔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입력한 검색 키워드가 여러 건으로 나올 경우 선택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재고조회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3" y="1713327"/>
            <a:ext cx="2781443" cy="45785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407" y="1713327"/>
            <a:ext cx="2762392" cy="4610337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636233" y="252852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726407" y="226787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5189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7999" y="1120491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품목탭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품목재고 조회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품목번호 및 품목명 입력 또는 바코드 스캔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입력한 검색 키워드가 여러 건으로 나올 경우 선택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재고조회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90" y="1521673"/>
            <a:ext cx="2730640" cy="457858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994" y="1540724"/>
            <a:ext cx="2743341" cy="4559534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3577866" y="205289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08562" y="205289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603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위치탭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위치에 속한 품목재고 조회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ko-KR" alt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위치명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입력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또는 바코드 스캔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입력한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검색 키워드가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여러 건으로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나올 경우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선택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재고조회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097" y="1497960"/>
            <a:ext cx="2749691" cy="459128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54" y="1497960"/>
            <a:ext cx="2768742" cy="4616687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410527" y="224495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9165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38622" y="1191176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조회 화면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 기준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탭 영역 </a:t>
            </a:r>
            <a:endParaRPr kumimoji="1"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탭을 변경하여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품목정보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위치정보로 조회 가능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영역 </a:t>
            </a:r>
            <a:endParaRPr kumimoji="1"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품목번호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품목명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또는 상품바코드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바코드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스캔하여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해당 품목이 존재하는 위치 목록 조회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2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버튼 클릭 시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바코드 스캐너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실행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조회 영역 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버튼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 시 품목 검색 화면으로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돌아감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위치명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입력 또는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위치바코드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스캔하여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상세 위치 조회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 선택 시 해당 위치의 재고목록 표시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702" y="3839222"/>
            <a:ext cx="216942" cy="216942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173" y="4677938"/>
            <a:ext cx="173102" cy="17310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45" y="1428424"/>
            <a:ext cx="3029714" cy="5010147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247345" y="193504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1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2964830" y="189489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765" y="1428424"/>
            <a:ext cx="3064459" cy="5044892"/>
          </a:xfrm>
          <a:prstGeom prst="rect">
            <a:avLst/>
          </a:prstGeom>
        </p:spPr>
      </p:pic>
      <p:sp>
        <p:nvSpPr>
          <p:cNvPr id="32" name="타원 3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6303122" y="207115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A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85639" y="241105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B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85638" y="281347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C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90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처리 화면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 기준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처리방법</a:t>
            </a:r>
            <a:r>
              <a:rPr kumimoji="1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이동할 재고를 선택하면 해당 재고이동 처리 필터 오픈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선택된 재고의 품목정보 표시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처리할 수량을 기입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처리할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 입력 또는 스캔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다건 처리할 경우 </a:t>
            </a:r>
            <a:r>
              <a:rPr kumimoji="1"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필수값</a:t>
            </a:r>
            <a:r>
              <a:rPr kumimoji="1"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아님</a:t>
            </a:r>
            <a:endParaRPr kumimoji="1"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건을 담아서 다건 처리할 경우            버튼 클릭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 처리할 경우          버튼 클릭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25" y="3843415"/>
            <a:ext cx="552208" cy="2576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" y="1464977"/>
            <a:ext cx="2972335" cy="4935712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18019" y="307652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1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633" y="1478588"/>
            <a:ext cx="2951883" cy="4928895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14173" y="606261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5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5017997" y="606446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6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498164" y="184786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26045" y="2652791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3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86292" y="316465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4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303" y="4138747"/>
            <a:ext cx="476274" cy="17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0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6440" y="1185858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처리 화면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 기준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처리방법</a:t>
            </a:r>
            <a:r>
              <a:rPr kumimoji="1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계속담기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클릭 시 담은 수량이 이동수량으로 표시됨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하단에 활성화 된           버튼 클릭 시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지금까지 담은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재고들을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이동할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 있는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처리목록 필터 오픈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3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 처리할 재고 선택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3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이동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처리할 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TO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 또는 스캔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3"/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 시 체크된 재고들 이동 처리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381" y="1330211"/>
            <a:ext cx="2998103" cy="500607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48" y="1323861"/>
            <a:ext cx="2998103" cy="5012995"/>
          </a:xfrm>
          <a:prstGeom prst="rect">
            <a:avLst/>
          </a:prstGeom>
        </p:spPr>
      </p:pic>
      <p:sp>
        <p:nvSpPr>
          <p:cNvPr id="79" name="타원 7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14173" y="196017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3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79979" y="6066751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5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491851" y="567711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4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159217" y="438778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1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180920" y="576524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486" y="3853506"/>
            <a:ext cx="476274" cy="17780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041" y="2749785"/>
            <a:ext cx="476274" cy="17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9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6440" y="1185858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조회 화면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 기준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검색 영역 </a:t>
            </a:r>
            <a:endParaRPr kumimoji="1"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위치명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입력 또는 위치바코드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스캔하여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해당 위치에 존재하는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목록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조회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2)   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버튼 클릭 시 바코드 스캐너 실행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조회 영역 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버튼 클릭 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검색 화면으로 돌아감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품목번호 및 품목명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 또는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상품바코드 </a:t>
            </a:r>
            <a:r>
              <a:rPr kumimoji="1"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스캔하여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조회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 선택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 해당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품목의 위치목록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표시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759" y="3017066"/>
            <a:ext cx="216942" cy="216942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599" y="3869882"/>
            <a:ext cx="173102" cy="17310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61" y="1437801"/>
            <a:ext cx="2947159" cy="5116890"/>
          </a:xfrm>
          <a:prstGeom prst="rect">
            <a:avLst/>
          </a:prstGeom>
        </p:spPr>
      </p:pic>
      <p:sp>
        <p:nvSpPr>
          <p:cNvPr id="30" name="타원 29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247345" y="201027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1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123364" y="207001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0939" y="1437801"/>
            <a:ext cx="2977448" cy="5148057"/>
          </a:xfrm>
          <a:prstGeom prst="rect">
            <a:avLst/>
          </a:prstGeom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6070522" y="215814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A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62811" y="249874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B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62811" y="329325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C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96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6440" y="1185857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처리 화면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 기준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처리방법 </a:t>
            </a:r>
            <a:endParaRPr kumimoji="1"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이동할 재고를 선택하면 해당 재고이동 처리 필터 오픈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선택된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재고의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품목정보 표시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이동 처리할 수량을 기입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이동 처리할 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TO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 입력 또는 스캔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다건 처리할 경우 </a:t>
            </a:r>
            <a:r>
              <a:rPr kumimoji="1"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필수값</a:t>
            </a:r>
            <a:r>
              <a:rPr kumimoji="1"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아님</a:t>
            </a:r>
            <a:endParaRPr kumimoji="1"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해당 건을 담아서 다건 처리할 경우            버튼 클릭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바로 처리할 경우          버튼 클릭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625" y="3751972"/>
            <a:ext cx="552208" cy="2576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45" y="1437801"/>
            <a:ext cx="2921605" cy="5003510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159217" y="3709601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1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688" y="1454239"/>
            <a:ext cx="2937917" cy="5049328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401208" y="176884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5344328" y="263027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3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437917" y="313167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4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14173" y="607092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5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5017997" y="607277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6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954" y="4070543"/>
            <a:ext cx="475090" cy="17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6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재고이동요청 목록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]</a:t>
            </a:r>
            <a:endParaRPr kumimoji="1"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재고이동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목록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조회 화면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재고이동번호 입력하여 조회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버튼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 시 바코드 스캐너 실행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버튼 클릭 시 검색 필터 오픈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요청 건 클릭 시 처리 화면으로 이동 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재고이동요청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752" y="2407716"/>
            <a:ext cx="216942" cy="216942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453" y="2692436"/>
            <a:ext cx="216942" cy="21694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22" y="1329693"/>
            <a:ext cx="3134560" cy="52050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228" y="1345832"/>
            <a:ext cx="3127371" cy="5241042"/>
          </a:xfrm>
          <a:prstGeom prst="rect">
            <a:avLst/>
          </a:prstGeom>
        </p:spPr>
      </p:pic>
      <p:sp>
        <p:nvSpPr>
          <p:cNvPr id="30" name="타원 29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158222" y="160596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64DBEAA2-2D66-5D41-A7B1-20653190682D}"/>
              </a:ext>
            </a:extLst>
          </p:cNvPr>
          <p:cNvSpPr/>
          <p:nvPr/>
        </p:nvSpPr>
        <p:spPr>
          <a:xfrm rot="10800000" flipV="1">
            <a:off x="3037792" y="152362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2677263" y="152362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314422C-B272-9540-95CA-FB0DC24A2E7C}"/>
              </a:ext>
            </a:extLst>
          </p:cNvPr>
          <p:cNvSpPr/>
          <p:nvPr/>
        </p:nvSpPr>
        <p:spPr>
          <a:xfrm rot="10800000" flipV="1">
            <a:off x="254708" y="314059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980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재고이동요청 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 요청 지정된 건 처리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처리방법</a:t>
            </a:r>
            <a:endParaRPr kumimoji="1"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위치명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 또는 위치바코드 스캔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해당 </a:t>
            </a:r>
            <a:r>
              <a:rPr kumimoji="1"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랙의</a:t>
            </a:r>
            <a:r>
              <a:rPr kumimoji="1"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아무 위치를 </a:t>
            </a:r>
            <a:r>
              <a:rPr kumimoji="1"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스캔하면</a:t>
            </a:r>
            <a:r>
              <a:rPr kumimoji="1"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해당 </a:t>
            </a:r>
            <a:r>
              <a:rPr kumimoji="1"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랙이</a:t>
            </a:r>
            <a:r>
              <a:rPr kumimoji="1"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</a:t>
            </a:r>
            <a:endParaRPr kumimoji="1"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지정된 건이 있을 경우에만 조회됨</a:t>
            </a:r>
            <a:endParaRPr kumimoji="1"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클릭 시 재고이동처리 화면으로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이동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kumimoji="1"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위치명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입력 또는 위치바코드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처리해야 할 품목들이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위치별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묶음 목록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재고이동요청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74" y="1437022"/>
            <a:ext cx="2749691" cy="459128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085" y="1540520"/>
            <a:ext cx="2743341" cy="4610337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99937" y="2996996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67486" y="245285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4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40292" y="2128881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1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672810" y="195262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3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722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재고이동요청 처리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재고이동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지정된 건 처리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화면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처리방법</a:t>
            </a:r>
            <a:endParaRPr kumimoji="1"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kumimoji="1"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위치명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입력 또는 위치바코드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위치의 처리할 품목 목록 표시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kumimoji="1"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위치가 선택된 상황에서 품목바코드 </a:t>
            </a:r>
            <a:r>
              <a:rPr kumimoji="1"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스캔</a:t>
            </a:r>
            <a:r>
              <a:rPr kumimoji="1"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kumimoji="1"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입력 또는 터치하여 활성화</a:t>
            </a:r>
            <a:endParaRPr kumimoji="1"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품목 활성화 시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미처리수량만큼 자동 기입 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처리수량 변경 가능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 수량 초과로 처리 가능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Tx/>
              <a:buAutoNum type="arabicParenR"/>
            </a:pP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위치가 지정되어 있지 않을 경우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인풋에 포커스를 두고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위치바코드를 스캔 또는 입력하여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 지정 가능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7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              클릭하여 활성화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처리 수량 기입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된 목록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출고 처리</a:t>
            </a:r>
            <a:endParaRPr kumimoji="1"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pPr marL="685800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열려있는 위치바코드 두 번 연속 스캔 시 처리와 동일하게 작용</a:t>
            </a:r>
            <a:endParaRPr kumimoji="1"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재고이동요청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01" y="1457462"/>
            <a:ext cx="2999380" cy="501513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023" y="1464389"/>
            <a:ext cx="2999380" cy="5008203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159217" y="186197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나눔스퀘어 Bold" panose="020B0600000101010101" pitchFamily="50" charset="-127"/>
              </a:rPr>
              <a:t>1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104973" y="235462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2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490833" y="1868855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3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3566164" y="319858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4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259454" y="602037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6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5684684" y="302233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5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2BE29A8-502B-F84A-87F1-9482399DE95C}"/>
              </a:ext>
            </a:extLst>
          </p:cNvPr>
          <p:cNvSpPr/>
          <p:nvPr/>
        </p:nvSpPr>
        <p:spPr>
          <a:xfrm rot="10800000" flipV="1">
            <a:off x="4054276" y="354139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나눔스퀘어 Bold" panose="020B0600000101010101" pitchFamily="50" charset="-127"/>
              </a:rPr>
              <a:t>6</a:t>
            </a:r>
            <a:endParaRPr lang="ko-KR" altLang="en-US" sz="1000" dirty="0">
              <a:ea typeface="나눔스퀘어 Bold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697" y="4377515"/>
            <a:ext cx="863644" cy="20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재고실사일정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재고실사일정 조회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실사년도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 후 검색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실사일정에 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대한 차수를 터치하면 실사재고등록화면으로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/>
            </a:r>
            <a:b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이동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재고실사일정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6" y="1274612"/>
            <a:ext cx="3023746" cy="5032625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83721" y="207173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83721" y="2714832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9730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실사재고등록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실사재고등록 입력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위치명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 또는 위치바코드를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스캔하면</a:t>
            </a:r>
            <a:r>
              <a:rPr kumimoji="1"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위치에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존재하는 품목 표시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되돌리기를 통한 다른 위치 조회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차이만표시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터치하면 기존재고와 실사재고의 수량 차이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있는 품목들만 표시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실사한 재고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SKU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번호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스캔하면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품목 수량이 활성화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 터치를 통해서도 활성화 가능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재고수량을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입력폼에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터치하면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키패드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활성화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되돌리기를 통해 전산상의 재고로 되돌리기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실사재고등록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86" y="1274612"/>
            <a:ext cx="3052368" cy="5080263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71089" y="199253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71089" y="232657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1217898" y="1992530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596700" y="1816274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488" y="1274612"/>
            <a:ext cx="3059385" cy="5052196"/>
          </a:xfrm>
          <a:prstGeom prst="rect">
            <a:avLst/>
          </a:prstGeom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4507432" y="403397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5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5417524" y="3945849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6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4468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실사재고등록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실사재고등록 입력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 수량을 입력 후 확인버튼을 터치하면 마크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표시를 통해 실사 했다는 표식을 확인 가능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하단 저장버튼 우측에 숫자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카운드가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증가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b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저장버튼을 터치하기 전까지는 실사재고에 대한 전산상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저장은 안됨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변경버튼은 실사 후 확인버튼을 터치 한 다음에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실사수량을 수정하기 위한 기능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전산상에 존재하지 않는 신규재고를 발견했을 때 신규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재고를 등록하기 위한 기능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신규로 등록할 품목 조회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실사재고등록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78" y="1293663"/>
            <a:ext cx="3109046" cy="51555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55" y="1272270"/>
            <a:ext cx="3101916" cy="5176991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305977" y="439041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544575" y="332794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848950" y="536691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5319037" y="2024581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5142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86DBCD4-D3A2-994A-97CF-B69817A994C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6A7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76E09-D3A9-884F-97F3-902C04544914}"/>
              </a:ext>
            </a:extLst>
          </p:cNvPr>
          <p:cNvSpPr txBox="1"/>
          <p:nvPr/>
        </p:nvSpPr>
        <p:spPr>
          <a:xfrm>
            <a:off x="6948000" y="1186874"/>
            <a:ext cx="4992000" cy="5400000"/>
          </a:xfrm>
          <a:prstGeom prst="rect">
            <a:avLst/>
          </a:prstGeom>
          <a:noFill/>
          <a:ln w="15875">
            <a:solidFill>
              <a:schemeClr val="bg2">
                <a:lumMod val="90000"/>
              </a:schemeClr>
            </a:solidFill>
          </a:ln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x-none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실사재고등록</a:t>
            </a:r>
            <a:r>
              <a:rPr kumimoji="1"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실사재고등록 입력 화면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실사재고 수량을 입력 후 확인버튼을 터치하면 마크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표시를 통해 실사 했다는 표식을 확인 가능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하단 저장버튼 우측에 숫자 </a:t>
            </a:r>
            <a:r>
              <a:rPr kumimoji="1" lang="ko-KR" alt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카운드가</a:t>
            </a: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증가</a:t>
            </a:r>
            <a: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br>
              <a:rPr kumimoji="1"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저장버튼을 터치하기 전까지는 실사재고에 대한 전산상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저장은 안됨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변경버튼은 실사 후 확인버튼을 터치 한 다음에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실사수량을 수정하기 위한 기능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전산상에 존재하지 않는 신규재고를 발견했을 때 신규</a:t>
            </a:r>
            <a: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1"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재고를 등록하기 위한 기능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1"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신규로 등록할 품목 조회</a:t>
            </a:r>
            <a:endParaRPr kumimoji="1"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E7A6AC-741B-AC49-A349-07B32778698C}"/>
              </a:ext>
            </a:extLst>
          </p:cNvPr>
          <p:cNvSpPr txBox="1"/>
          <p:nvPr/>
        </p:nvSpPr>
        <p:spPr>
          <a:xfrm>
            <a:off x="5712542" y="-26547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2AC6A1-CCE2-D243-ACB7-054776C3D558}"/>
              </a:ext>
            </a:extLst>
          </p:cNvPr>
          <p:cNvSpPr txBox="1"/>
          <p:nvPr/>
        </p:nvSpPr>
        <p:spPr>
          <a:xfrm>
            <a:off x="5987845" y="-9832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50000"/>
              </a:lnSpc>
            </a:pPr>
            <a:endParaRPr kumimoji="1" lang="x-none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2F0FB-97F4-724D-8641-FD365EA92CA9}"/>
              </a:ext>
            </a:extLst>
          </p:cNvPr>
          <p:cNvSpPr txBox="1"/>
          <p:nvPr/>
        </p:nvSpPr>
        <p:spPr>
          <a:xfrm>
            <a:off x="247345" y="153579"/>
            <a:ext cx="777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4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1AD2572-F842-D74D-B71F-60DC102F56F6}"/>
              </a:ext>
            </a:extLst>
          </p:cNvPr>
          <p:cNvCxnSpPr>
            <a:cxnSpLocks/>
          </p:cNvCxnSpPr>
          <p:nvPr/>
        </p:nvCxnSpPr>
        <p:spPr>
          <a:xfrm>
            <a:off x="1149235" y="229517"/>
            <a:ext cx="0" cy="599158"/>
          </a:xfrm>
          <a:prstGeom prst="line">
            <a:avLst/>
          </a:prstGeom>
          <a:ln w="158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0EA58-E1BF-1B4D-A06B-D9613C44B39D}"/>
              </a:ext>
            </a:extLst>
          </p:cNvPr>
          <p:cNvSpPr txBox="1"/>
          <p:nvPr/>
        </p:nvSpPr>
        <p:spPr>
          <a:xfrm>
            <a:off x="1394154" y="245912"/>
            <a:ext cx="9076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PDA </a:t>
            </a:r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실사재고등록</a:t>
            </a:r>
            <a:endParaRPr lang="en-US" altLang="ko-KR" sz="2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4" y="1386874"/>
            <a:ext cx="2781443" cy="461668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203" y="1274612"/>
            <a:ext cx="2781443" cy="4559534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305977" y="4390417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2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544575" y="3327943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ea typeface="맑은 고딕" panose="020B0503020000020004" pitchFamily="50" charset="-127"/>
              </a:rPr>
              <a:t>1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2848950" y="5366918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3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26274D3-3E1B-EF48-8657-ADD5AA8D4107}"/>
              </a:ext>
            </a:extLst>
          </p:cNvPr>
          <p:cNvSpPr/>
          <p:nvPr/>
        </p:nvSpPr>
        <p:spPr>
          <a:xfrm rot="10800000" flipV="1">
            <a:off x="5319037" y="2024581"/>
            <a:ext cx="176256" cy="176256"/>
          </a:xfrm>
          <a:prstGeom prst="ellipse">
            <a:avLst/>
          </a:prstGeom>
          <a:solidFill>
            <a:srgbClr val="E3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 smtClean="0">
                <a:ea typeface="맑은 고딕" panose="020B0503020000020004" pitchFamily="50" charset="-127"/>
              </a:rPr>
              <a:t>4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7801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 w="9525">
          <a:solidFill>
            <a:schemeClr val="accent3">
              <a:lumMod val="40000"/>
              <a:lumOff val="6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noAutofit/>
      </a:bodyPr>
      <a:lstStyle>
        <a:defPPr>
          <a:lnSpc>
            <a:spcPct val="150000"/>
          </a:lnSpc>
          <a:defRPr sz="1500" dirty="0" smtClean="0">
            <a:solidFill>
              <a:schemeClr val="tx1">
                <a:lumMod val="75000"/>
                <a:lumOff val="25000"/>
              </a:schemeClr>
            </a:solidFill>
            <a:latin typeface="나눔스퀘어 Bold" panose="020B0600000101010101" pitchFamily="50" charset="-127"/>
            <a:ea typeface="나눔스퀘어 Bold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49003</TotalTime>
  <Words>1649</Words>
  <Application>Microsoft Office PowerPoint</Application>
  <PresentationFormat>와이드스크린</PresentationFormat>
  <Paragraphs>447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나눔스퀘어 Bold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pglee</dc:creator>
  <cp:lastModifiedBy>신현규</cp:lastModifiedBy>
  <cp:revision>904</cp:revision>
  <dcterms:created xsi:type="dcterms:W3CDTF">2020-12-09T02:49:11Z</dcterms:created>
  <dcterms:modified xsi:type="dcterms:W3CDTF">2025-12-30T05:21:20Z</dcterms:modified>
</cp:coreProperties>
</file>