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83" r:id="rId2"/>
    <p:sldId id="382" r:id="rId3"/>
    <p:sldId id="411" r:id="rId4"/>
    <p:sldId id="412" r:id="rId5"/>
    <p:sldId id="413" r:id="rId6"/>
    <p:sldId id="415" r:id="rId7"/>
    <p:sldId id="414" r:id="rId8"/>
    <p:sldId id="416" r:id="rId9"/>
    <p:sldId id="410" r:id="rId10"/>
    <p:sldId id="313" r:id="rId11"/>
    <p:sldId id="403" r:id="rId12"/>
    <p:sldId id="417" r:id="rId13"/>
    <p:sldId id="418" r:id="rId14"/>
    <p:sldId id="419" r:id="rId15"/>
    <p:sldId id="420" r:id="rId16"/>
  </p:sldIdLst>
  <p:sldSz cx="12192000" cy="6858000"/>
  <p:notesSz cx="6858000" cy="9144000"/>
  <p:embeddedFontLst>
    <p:embeddedFont>
      <p:font typeface="나눔바른고딕" panose="020B0600000101010101" charset="-127"/>
      <p:regular r:id="rId18"/>
      <p:bold r:id="rId19"/>
    </p:embeddedFont>
    <p:embeddedFont>
      <p:font typeface="HY그래픽M" panose="02030600000101010101" pitchFamily="18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ＭＳ Ｐゴシック" panose="020B0600070205080204" pitchFamily="34" charset="-128"/>
      <p:regular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787"/>
    <a:srgbClr val="404040"/>
    <a:srgbClr val="6C6C6C"/>
    <a:srgbClr val="02A1E5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7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F41DF-4609-4AE2-A81B-9624EA3C643B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3A0F2-284B-406A-BB11-5A6C53CEE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4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41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1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67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71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12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0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0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63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48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61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44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51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168.126.28.62:81/redmine/login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12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12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77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7842141" y="6348983"/>
            <a:ext cx="283633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r" defTabSz="914400" rtl="0" eaLnBrk="1" latin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ko-KR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  <a:cs typeface="+mn-cs"/>
              </a:rPr>
              <a:t>SCM Solution </a:t>
            </a:r>
            <a:r>
              <a:rPr lang="ko-KR" altLang="en-US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  <a:cs typeface="+mn-cs"/>
              </a:rPr>
              <a:t>전문기업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75BED2-650D-41A9-BC14-493BF84B3B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80" b="-2135"/>
          <a:stretch/>
        </p:blipFill>
        <p:spPr>
          <a:xfrm>
            <a:off x="10766854" y="6123757"/>
            <a:ext cx="992397" cy="4504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373C0B-F427-4675-BA89-CFB9B987AA21}"/>
              </a:ext>
            </a:extLst>
          </p:cNvPr>
          <p:cNvSpPr txBox="1"/>
          <p:nvPr/>
        </p:nvSpPr>
        <p:spPr>
          <a:xfrm>
            <a:off x="2442602" y="2295817"/>
            <a:ext cx="73068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WMS</a:t>
            </a:r>
            <a:r>
              <a:rPr lang="ko-KR" altLang="en-US" sz="66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구축프로젝트</a:t>
            </a:r>
            <a:endParaRPr lang="en-US" altLang="ko-KR" sz="6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운영자메뉴얼</a:t>
            </a:r>
            <a:endParaRPr lang="en-US" altLang="ko-KR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[R] 8">
            <a:extLst>
              <a:ext uri="{FF2B5EF4-FFF2-40B4-BE49-F238E27FC236}">
                <a16:creationId xmlns:a16="http://schemas.microsoft.com/office/drawing/2014/main" id="{75119988-7D89-1741-AC84-E9324D1193FA}"/>
              </a:ext>
            </a:extLst>
          </p:cNvPr>
          <p:cNvCxnSpPr>
            <a:cxnSpLocks/>
          </p:cNvCxnSpPr>
          <p:nvPr/>
        </p:nvCxnSpPr>
        <p:spPr>
          <a:xfrm>
            <a:off x="2616251" y="2304000"/>
            <a:ext cx="0" cy="977319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2">
            <a:extLst>
              <a:ext uri="{FF2B5EF4-FFF2-40B4-BE49-F238E27FC236}">
                <a16:creationId xmlns:a16="http://schemas.microsoft.com/office/drawing/2014/main" id="{51C332D6-265B-E740-8607-062654FA5027}"/>
              </a:ext>
            </a:extLst>
          </p:cNvPr>
          <p:cNvCxnSpPr>
            <a:cxnSpLocks/>
          </p:cNvCxnSpPr>
          <p:nvPr/>
        </p:nvCxnSpPr>
        <p:spPr>
          <a:xfrm>
            <a:off x="9574440" y="2304000"/>
            <a:ext cx="0" cy="977319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20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8484692" y="6471404"/>
            <a:ext cx="283633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r" defTabSz="914400" rtl="0" eaLnBrk="1" latin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ko-KR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바른고딕" pitchFamily="50" charset="-127"/>
                <a:ea typeface="나눔바른고딕" pitchFamily="50" charset="-127"/>
                <a:cs typeface="+mn-cs"/>
              </a:rPr>
              <a:t>SCM Solution </a:t>
            </a:r>
            <a:r>
              <a:rPr lang="ko-KR" altLang="en-US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바른고딕" pitchFamily="50" charset="-127"/>
                <a:ea typeface="나눔바른고딕" pitchFamily="50" charset="-127"/>
                <a:cs typeface="+mn-cs"/>
              </a:rPr>
              <a:t>전문기업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375BED2-650D-41A9-BC14-493BF84B3B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80" b="-2135"/>
          <a:stretch/>
        </p:blipFill>
        <p:spPr>
          <a:xfrm>
            <a:off x="11309660" y="6447837"/>
            <a:ext cx="581397" cy="263898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585C409B-881B-484E-89C0-B371A7B01706}"/>
              </a:ext>
            </a:extLst>
          </p:cNvPr>
          <p:cNvSpPr/>
          <p:nvPr/>
        </p:nvSpPr>
        <p:spPr>
          <a:xfrm>
            <a:off x="0" y="0"/>
            <a:ext cx="4759036" cy="6932815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824F228-AEF0-4E41-B50C-ED24F189CA9E}"/>
              </a:ext>
            </a:extLst>
          </p:cNvPr>
          <p:cNvGrpSpPr/>
          <p:nvPr/>
        </p:nvGrpSpPr>
        <p:grpSpPr>
          <a:xfrm>
            <a:off x="1133453" y="2971800"/>
            <a:ext cx="2206337" cy="914400"/>
            <a:chOff x="426027" y="631767"/>
            <a:chExt cx="2206337" cy="91440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9F2AFF-4AD1-CF44-9FB9-495773A5E9D0}"/>
                </a:ext>
              </a:extLst>
            </p:cNvPr>
            <p:cNvSpPr txBox="1"/>
            <p:nvPr/>
          </p:nvSpPr>
          <p:spPr>
            <a:xfrm>
              <a:off x="615142" y="631767"/>
              <a:ext cx="1853738" cy="9144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ko-KR" altLang="en-US" sz="3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목차</a:t>
              </a:r>
              <a:endParaRPr kumimoji="1" lang="x-none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3" name="직선 연결선[R] 11">
              <a:extLst>
                <a:ext uri="{FF2B5EF4-FFF2-40B4-BE49-F238E27FC236}">
                  <a16:creationId xmlns:a16="http://schemas.microsoft.com/office/drawing/2014/main" id="{A1293A62-ED7A-CD4E-9518-46DED508D3F0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4" y="890837"/>
              <a:ext cx="0" cy="4495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13">
              <a:extLst>
                <a:ext uri="{FF2B5EF4-FFF2-40B4-BE49-F238E27FC236}">
                  <a16:creationId xmlns:a16="http://schemas.microsoft.com/office/drawing/2014/main" id="{110BF4E4-57F9-CD49-BD60-4FEA7DA365A9}"/>
                </a:ext>
              </a:extLst>
            </p:cNvPr>
            <p:cNvCxnSpPr>
              <a:cxnSpLocks/>
            </p:cNvCxnSpPr>
            <p:nvPr/>
          </p:nvCxnSpPr>
          <p:spPr>
            <a:xfrm>
              <a:off x="426027" y="890837"/>
              <a:ext cx="0" cy="4495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AFF7DFD-BF79-0848-877D-F2EA1BBD58C6}"/>
              </a:ext>
            </a:extLst>
          </p:cNvPr>
          <p:cNvSpPr txBox="1"/>
          <p:nvPr/>
        </p:nvSpPr>
        <p:spPr>
          <a:xfrm>
            <a:off x="6179143" y="1497600"/>
            <a:ext cx="1975634" cy="344978"/>
          </a:xfrm>
          <a:prstGeom prst="rect">
            <a:avLst/>
          </a:prstGeom>
          <a:noFill/>
        </p:spPr>
        <p:txBody>
          <a:bodyPr wrap="none" numCol="1" rtlCol="0">
            <a:noAutofit/>
          </a:bodyPr>
          <a:lstStyle/>
          <a:p>
            <a:r>
              <a:rPr kumimoji="1" lang="en-US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kumimoji="1" lang="ko-KR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 방법</a:t>
            </a:r>
            <a:endParaRPr kumimoji="1" lang="x-none" altLang="en-US" dirty="0">
              <a:solidFill>
                <a:srgbClr val="6C6C6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40A15D-18C3-BE42-980C-638F15EDB7CD}"/>
              </a:ext>
            </a:extLst>
          </p:cNvPr>
          <p:cNvSpPr txBox="1"/>
          <p:nvPr/>
        </p:nvSpPr>
        <p:spPr>
          <a:xfrm>
            <a:off x="6196561" y="2418099"/>
            <a:ext cx="1975634" cy="344978"/>
          </a:xfrm>
          <a:prstGeom prst="rect">
            <a:avLst/>
          </a:prstGeom>
          <a:noFill/>
        </p:spPr>
        <p:txBody>
          <a:bodyPr wrap="none" numCol="1" rtlCol="0">
            <a:noAutofit/>
          </a:bodyPr>
          <a:lstStyle/>
          <a:p>
            <a:r>
              <a:rPr kumimoji="1" lang="ko-KR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계정관리</a:t>
            </a:r>
            <a:endParaRPr kumimoji="1" lang="x-none" altLang="en-US" dirty="0">
              <a:solidFill>
                <a:srgbClr val="6C6C6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994586-6BD7-1E4A-A468-6A2A4B37E427}"/>
              </a:ext>
            </a:extLst>
          </p:cNvPr>
          <p:cNvSpPr txBox="1"/>
          <p:nvPr/>
        </p:nvSpPr>
        <p:spPr>
          <a:xfrm>
            <a:off x="6219953" y="3356015"/>
            <a:ext cx="1975634" cy="344978"/>
          </a:xfrm>
          <a:prstGeom prst="rect">
            <a:avLst/>
          </a:prstGeom>
          <a:noFill/>
        </p:spPr>
        <p:txBody>
          <a:bodyPr wrap="none" numCol="1" rtlCol="0">
            <a:noAutofit/>
          </a:bodyPr>
          <a:lstStyle/>
          <a:p>
            <a:r>
              <a:rPr kumimoji="1" lang="ko-KR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설정</a:t>
            </a:r>
            <a:endParaRPr kumimoji="1" lang="x-none" altLang="en-US" dirty="0">
              <a:solidFill>
                <a:srgbClr val="6C6C6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317873" y="1387321"/>
            <a:ext cx="921524" cy="693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b="1" dirty="0" smtClean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kumimoji="1" lang="x-none" altLang="en-US" sz="4400" b="1" dirty="0">
              <a:solidFill>
                <a:srgbClr val="6D7A8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335291" y="3239902"/>
            <a:ext cx="921524" cy="693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b="1" dirty="0" smtClean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kumimoji="1" lang="x-none" altLang="en-US" sz="4400" b="1" dirty="0">
              <a:solidFill>
                <a:srgbClr val="6D7A8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335291" y="2304903"/>
            <a:ext cx="921524" cy="693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b="1" dirty="0" smtClean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kumimoji="1" lang="x-none" altLang="en-US" sz="4400" b="1" dirty="0">
              <a:solidFill>
                <a:srgbClr val="6D7A8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338153" y="4103263"/>
            <a:ext cx="921524" cy="693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b="1" dirty="0" smtClean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kumimoji="1" lang="x-none" altLang="en-US" sz="4400" b="1" dirty="0">
              <a:solidFill>
                <a:srgbClr val="6D7A8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FF7DFD-BF79-0848-877D-F2EA1BBD58C6}"/>
              </a:ext>
            </a:extLst>
          </p:cNvPr>
          <p:cNvSpPr txBox="1"/>
          <p:nvPr/>
        </p:nvSpPr>
        <p:spPr>
          <a:xfrm>
            <a:off x="6182005" y="4248378"/>
            <a:ext cx="1975634" cy="344978"/>
          </a:xfrm>
          <a:prstGeom prst="rect">
            <a:avLst/>
          </a:prstGeom>
          <a:noFill/>
        </p:spPr>
        <p:txBody>
          <a:bodyPr wrap="none" numCol="1" rtlCol="0">
            <a:noAutofit/>
          </a:bodyPr>
          <a:lstStyle/>
          <a:p>
            <a:r>
              <a:rPr kumimoji="1" lang="ko-KR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kumimoji="1" lang="en-US" altLang="ko-KR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사이트 사용 방법</a:t>
            </a:r>
            <a:endParaRPr kumimoji="1" lang="x-none" altLang="en-US" dirty="0">
              <a:solidFill>
                <a:srgbClr val="6C6C6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76101" y="4966624"/>
            <a:ext cx="921524" cy="693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b="1" dirty="0" smtClean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kumimoji="1" lang="x-none" altLang="en-US" sz="4400" b="1" dirty="0">
              <a:solidFill>
                <a:srgbClr val="6D7A8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F7DFD-BF79-0848-877D-F2EA1BBD58C6}"/>
              </a:ext>
            </a:extLst>
          </p:cNvPr>
          <p:cNvSpPr txBox="1"/>
          <p:nvPr/>
        </p:nvSpPr>
        <p:spPr>
          <a:xfrm>
            <a:off x="6219953" y="5111739"/>
            <a:ext cx="1975634" cy="344978"/>
          </a:xfrm>
          <a:prstGeom prst="rect">
            <a:avLst/>
          </a:prstGeom>
          <a:noFill/>
        </p:spPr>
        <p:txBody>
          <a:bodyPr wrap="none" numCol="1" rtlCol="0">
            <a:noAutofit/>
          </a:bodyPr>
          <a:lstStyle/>
          <a:p>
            <a:r>
              <a:rPr kumimoji="1" lang="en-US" altLang="ko-KR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kumimoji="1" lang="ko-KR" altLang="en-US" dirty="0" smtClean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  <a:endParaRPr kumimoji="1" lang="x-none" altLang="en-US" dirty="0">
              <a:solidFill>
                <a:srgbClr val="6C6C6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012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658857" y="1440268"/>
            <a:ext cx="399345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 주소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외부망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http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://210.116.121.171:5173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내부망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http://192.168.100.51:5173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-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https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://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wms.imacro.co.k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" y="1218148"/>
            <a:ext cx="7225342" cy="5381011"/>
          </a:xfrm>
          <a:prstGeom prst="rect">
            <a:avLst/>
          </a:prstGeom>
          <a:ln>
            <a:solidFill>
              <a:srgbClr val="677787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830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628161" y="1284715"/>
            <a:ext cx="4409318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계정 추가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클릭하면 좌측 팝업 활성화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기입 후 등록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 클릭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비밀번호는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시스템설정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관리의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초기화 비밀번호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비밀번호 잊어버렸을 경우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계정 조회 후 체크하여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 시 초기화 비밀번호로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번경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퇴사자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계정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클릭하면 좌측 팝업 활성화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사용여부를 미사용으로 변경 시 로그인 하면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사용이 중지된 계정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이라는 알림 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제한 됨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" y="1284715"/>
            <a:ext cx="7225342" cy="5381011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19" y="2821622"/>
            <a:ext cx="6914394" cy="1512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rcRect r="32683" b="-5266"/>
          <a:stretch/>
        </p:blipFill>
        <p:spPr>
          <a:xfrm>
            <a:off x="8086725" y="1787699"/>
            <a:ext cx="629649" cy="2411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24" y="3821088"/>
            <a:ext cx="809625" cy="22080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l="33606" t="1310" r="32683" b="-5267"/>
          <a:stretch/>
        </p:blipFill>
        <p:spPr>
          <a:xfrm>
            <a:off x="8067176" y="5229225"/>
            <a:ext cx="315323" cy="23812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계정 관리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58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628161" y="1284715"/>
            <a:ext cx="4409318" cy="416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권한 설정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사용자별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메뉴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기능 권한을 관리하는 프로그램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메뉴경로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시스템정보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메뉴그룹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b="1" dirty="0" smtClean="0">
                <a:solidFill>
                  <a:srgbClr val="FFC000">
                    <a:lumMod val="75000"/>
                  </a:srgbClr>
                </a:solidFill>
                <a:latin typeface="맑은 고딕" panose="020B0503020000020004" pitchFamily="50" charset="-127"/>
              </a:rPr>
              <a:t>L-Section</a:t>
            </a:r>
            <a:endParaRPr lang="en-US" altLang="ko-KR" sz="1400" b="1" dirty="0">
              <a:solidFill>
                <a:srgbClr val="FFC000">
                  <a:lumMod val="75000"/>
                </a:srgbClr>
              </a:solidFill>
              <a:latin typeface="맑은 고딕" panose="020B0503020000020004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50" b="1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메뉴그룹을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추가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명칭 변경하는 영역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</a:b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- 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추가된 </a:t>
            </a:r>
            <a:r>
              <a:rPr lang="ko-KR" altLang="en-US" sz="1050" b="1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메뉴그룹은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50" b="1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기준정보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 – [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사용자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에서 설정 가능 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</a:b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</a:br>
            <a:endParaRPr lang="en-US" altLang="ko-KR" sz="1050" dirty="0">
              <a:solidFill>
                <a:srgbClr val="4472C4">
                  <a:lumMod val="75000"/>
                </a:srgbClr>
              </a:solidFill>
              <a:latin typeface="맑은 고딕" panose="020B0503020000020004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400" b="1" dirty="0" smtClean="0">
                <a:solidFill>
                  <a:srgbClr val="4472C4">
                    <a:lumMod val="75000"/>
                  </a:srgbClr>
                </a:solidFill>
                <a:latin typeface="맑은 고딕" panose="020B0503020000020004" pitchFamily="50" charset="-127"/>
              </a:rPr>
              <a:t>R-Section</a:t>
            </a:r>
            <a:endParaRPr lang="en-US" altLang="ko-KR" sz="1400" b="1" dirty="0">
              <a:solidFill>
                <a:srgbClr val="4472C4">
                  <a:lumMod val="75000"/>
                </a:srgbClr>
              </a:solidFill>
              <a:latin typeface="맑은 고딕" panose="020B0503020000020004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5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그룹별 사용 권한을 설정하는 기능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로그인되어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있는 상태에서 설정을 변경하면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재로그인</a:t>
            </a:r>
            <a:r>
              <a:rPr lang="ko-KR" altLang="en-US" sz="1200" b="1" dirty="0" smtClean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적용됨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계정 관리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" y="1326962"/>
            <a:ext cx="7225342" cy="5283243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A2E03C-E587-47A5-819E-632741CFB143}"/>
              </a:ext>
            </a:extLst>
          </p:cNvPr>
          <p:cNvSpPr txBox="1"/>
          <p:nvPr/>
        </p:nvSpPr>
        <p:spPr>
          <a:xfrm>
            <a:off x="258539" y="1884879"/>
            <a:ext cx="2501439" cy="4641756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4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L-Section</a:t>
            </a:r>
            <a:endParaRPr lang="ko-KR" altLang="en-US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C1B11-21CD-4A03-ABDC-7F62585F32C6}"/>
              </a:ext>
            </a:extLst>
          </p:cNvPr>
          <p:cNvSpPr txBox="1"/>
          <p:nvPr/>
        </p:nvSpPr>
        <p:spPr>
          <a:xfrm>
            <a:off x="2771172" y="1698171"/>
            <a:ext cx="4701515" cy="4828464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</a:t>
            </a:r>
            <a:r>
              <a:rPr lang="en-US" altLang="ko-KR" sz="1200" b="1" dirty="0" smtClean="0">
                <a:solidFill>
                  <a:schemeClr val="accent5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-Section</a:t>
            </a:r>
            <a:endParaRPr lang="ko-KR" altLang="en-US" sz="1200" b="1" dirty="0">
              <a:solidFill>
                <a:schemeClr val="accent5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99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233879" y="1326963"/>
            <a:ext cx="489101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관리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옵션관리를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설정하는 화면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 경로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시스템정보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시스템설정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실패 허용 횟수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실패 횟수를 설정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지정한 횟수를 초과하여 실패 시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계정이 잠겨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불가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잠긴 계정은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기준정보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비밀번호초기화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통해 해제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변경 주기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변경 주기를 설정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변경일로부터 해당 일수가 지나면 비밀번호 재설정 팝업이 활성화 됨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[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다음에 변경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을 통해 현재 사용 중인 비밀번호 그대로 사용 가능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[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다음에변경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 시 클릭한 날짜로부터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변경주기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일수가 지났을 경우 비밀번호 재설정 팝업이 활성화 됨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시스템설정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A2E03C-E587-47A5-819E-632741CFB143}"/>
              </a:ext>
            </a:extLst>
          </p:cNvPr>
          <p:cNvSpPr txBox="1"/>
          <p:nvPr/>
        </p:nvSpPr>
        <p:spPr>
          <a:xfrm>
            <a:off x="258539" y="1884879"/>
            <a:ext cx="2501439" cy="4641756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4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L-Section</a:t>
            </a:r>
            <a:endParaRPr lang="ko-KR" altLang="en-US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729" b="-1"/>
          <a:stretch/>
        </p:blipFill>
        <p:spPr>
          <a:xfrm>
            <a:off x="247345" y="1326963"/>
            <a:ext cx="6709692" cy="5200855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</p:spTree>
    <p:extLst>
      <p:ext uri="{BB962C8B-B14F-4D97-AF65-F5344CB8AC3E}">
        <p14:creationId xmlns:p14="http://schemas.microsoft.com/office/powerpoint/2010/main" val="403536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233879" y="1326963"/>
            <a:ext cx="48910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관리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옵션관리를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설정하는 화면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 경로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시스템정보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시스템설정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3"/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최소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자리수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비밀번호의 최소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자리수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 startAt="3"/>
              <a:defRPr/>
            </a:pP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생성규칙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비밀번호의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생성규칙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체크한 항목들이 최소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이상 들어가야지 비밀번호 변경 가능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AutoNum type="arabicPeriod" startAt="3"/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초기화 비밀번호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초기화 비밀번호 설정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하기의 경우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입력값으로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비밀번호가 설정 됨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1.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신규 추가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2. [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비밀번호초기화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 시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시스템설정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A2E03C-E587-47A5-819E-632741CFB143}"/>
              </a:ext>
            </a:extLst>
          </p:cNvPr>
          <p:cNvSpPr txBox="1"/>
          <p:nvPr/>
        </p:nvSpPr>
        <p:spPr>
          <a:xfrm>
            <a:off x="258539" y="1884879"/>
            <a:ext cx="2501439" cy="4641756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200" b="1" dirty="0" smtClean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4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L-Section</a:t>
            </a:r>
            <a:endParaRPr lang="ko-KR" altLang="en-US" sz="1200" b="1" dirty="0">
              <a:solidFill>
                <a:schemeClr val="accent4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729" b="-1"/>
          <a:stretch/>
        </p:blipFill>
        <p:spPr>
          <a:xfrm>
            <a:off x="247345" y="1326963"/>
            <a:ext cx="6709692" cy="5200855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</p:spTree>
    <p:extLst>
      <p:ext uri="{BB962C8B-B14F-4D97-AF65-F5344CB8AC3E}">
        <p14:creationId xmlns:p14="http://schemas.microsoft.com/office/powerpoint/2010/main" val="4215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200323" y="1081724"/>
            <a:ext cx="489101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관리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옵션관리를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설정하는 화면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 경로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시스템정보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시스템설정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검색옵션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모든 프로그램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검색조건의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기본 일자를 설정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지정일을 선택 시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오늘날짜를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기준으로 과거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미래일을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 가능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ko-KR" alt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처리일자</a:t>
            </a:r>
            <a:r>
              <a:rPr lang="ko-KR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옵션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처리버튼을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클릭 시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처리날짜를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변경할 수 있는 지를 설정하는 기능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체크 시    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 버튼을 누르면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처리날짜를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변경가능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미 체크 시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처리날짜는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오늘날짜로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고정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ko-KR" alt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송장처리</a:t>
            </a:r>
            <a:r>
              <a:rPr lang="ko-KR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옵션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PDA [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송장처리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처리 방법은 선택하는 기능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1.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품목스캔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필수 체크 시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송장스캔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품목을 스캔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터치해야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2.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품목스캔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필수 </a:t>
            </a: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미체크시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송장만 스캔하여 처리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시스템설정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13867"/>
          <a:stretch/>
        </p:blipFill>
        <p:spPr>
          <a:xfrm>
            <a:off x="247345" y="1258217"/>
            <a:ext cx="6723906" cy="5224839"/>
          </a:xfrm>
          <a:prstGeom prst="rect">
            <a:avLst/>
          </a:prstGeom>
          <a:ln w="19050">
            <a:solidFill>
              <a:srgbClr val="677787"/>
            </a:solidFill>
          </a:ln>
        </p:spPr>
      </p:pic>
    </p:spTree>
    <p:extLst>
      <p:ext uri="{BB962C8B-B14F-4D97-AF65-F5344CB8AC3E}">
        <p14:creationId xmlns:p14="http://schemas.microsoft.com/office/powerpoint/2010/main" val="833691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390521" y="1284715"/>
            <a:ext cx="4724479" cy="229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이슈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문의 관리 사이트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레드마인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사용 방법</a:t>
            </a: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2"/>
              </a:rPr>
              <a:t>http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2"/>
              </a:rPr>
              <a:t>://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2"/>
              </a:rPr>
              <a:t>168.126.28.62:81/redmine/login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레드마인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계정정보 입력 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계정정보는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메일로 전송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사이트 사용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8" y="1258217"/>
            <a:ext cx="7225342" cy="5318225"/>
          </a:xfrm>
          <a:prstGeom prst="rect">
            <a:avLst/>
          </a:prstGeom>
          <a:ln>
            <a:solidFill>
              <a:srgbClr val="677787"/>
            </a:solidFill>
          </a:ln>
        </p:spPr>
      </p:pic>
    </p:spTree>
    <p:extLst>
      <p:ext uri="{BB962C8B-B14F-4D97-AF65-F5344CB8AC3E}">
        <p14:creationId xmlns:p14="http://schemas.microsoft.com/office/powerpoint/2010/main" val="390196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541661" y="1084246"/>
            <a:ext cx="4724479" cy="368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이슈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문의 관리 사이트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레드마인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사용 방법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레드마인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사이트에서 로그인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우측 상단의 프로젝트 바로 가기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클릭하여 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[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매크로통상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(TRAC)]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 시 좌측 화면으로 들어옴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[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일감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탭 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8" y="1284715"/>
            <a:ext cx="7289029" cy="5396483"/>
          </a:xfrm>
          <a:prstGeom prst="rect">
            <a:avLst/>
          </a:prstGeom>
          <a:ln>
            <a:solidFill>
              <a:srgbClr val="677787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사이트 사용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6B7A7B1B-2415-41D1-A611-1C665447C624}"/>
              </a:ext>
            </a:extLst>
          </p:cNvPr>
          <p:cNvSpPr/>
          <p:nvPr/>
        </p:nvSpPr>
        <p:spPr>
          <a:xfrm>
            <a:off x="5955485" y="1284715"/>
            <a:ext cx="281030" cy="2826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en-US" altLang="ko-KR" sz="7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1</a:t>
            </a:r>
            <a:endParaRPr lang="ko-KR" altLang="en-US" sz="700" b="1" dirty="0">
              <a:solidFill>
                <a:schemeClr val="tx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B7A7B1B-2415-41D1-A611-1C665447C624}"/>
              </a:ext>
            </a:extLst>
          </p:cNvPr>
          <p:cNvSpPr/>
          <p:nvPr/>
        </p:nvSpPr>
        <p:spPr>
          <a:xfrm>
            <a:off x="1066800" y="2015956"/>
            <a:ext cx="281030" cy="2826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en-US" altLang="ko-KR" sz="7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2</a:t>
            </a:r>
            <a:endParaRPr lang="ko-KR" altLang="en-US" sz="700" b="1" dirty="0">
              <a:solidFill>
                <a:schemeClr val="tx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767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7541661" y="1084246"/>
            <a:ext cx="4724479" cy="6036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레드마인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일감 화면</a:t>
            </a: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문의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이슈 내용을 등록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 하는 화면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문의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이슈를 등록 시 ① 버튼을 통해 등록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개발사에서 주기적으로 해당 사이트에서 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올린 내용을 확인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 대응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상태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500" dirty="0"/>
              <a:t>新規</a:t>
            </a:r>
            <a:r>
              <a:rPr lang="en-US" altLang="ko-KR" sz="1500" dirty="0"/>
              <a:t>(New)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글을 등록한 상태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500" dirty="0" err="1" smtClean="0"/>
              <a:t>進行中</a:t>
            </a:r>
            <a:r>
              <a:rPr lang="en-US" altLang="ko-KR" sz="1500" dirty="0"/>
              <a:t>(</a:t>
            </a:r>
            <a:r>
              <a:rPr lang="en-US" altLang="ko-KR" sz="1500" dirty="0" err="1" smtClean="0"/>
              <a:t>Ing</a:t>
            </a:r>
            <a:r>
              <a:rPr lang="en-US" altLang="ko-KR" sz="1500" dirty="0" smtClean="0"/>
              <a:t>)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개발자가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문의건을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접수 후 대응 상태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500" dirty="0"/>
              <a:t>解決</a:t>
            </a:r>
            <a:r>
              <a:rPr lang="en-US" altLang="ko-KR" sz="1500" dirty="0"/>
              <a:t>(Complete</a:t>
            </a:r>
            <a:r>
              <a:rPr lang="en-US" altLang="ko-KR" sz="1500" dirty="0" smtClean="0"/>
              <a:t>):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개발자가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문의건을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완료한 상태</a:t>
            </a:r>
            <a:endParaRPr lang="en-US" altLang="ko-KR" sz="1500" dirty="0" smtClean="0"/>
          </a:p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4) </a:t>
            </a:r>
            <a:r>
              <a:rPr lang="ko-KR" altLang="en-US" sz="1500" dirty="0"/>
              <a:t>終了</a:t>
            </a:r>
            <a:r>
              <a:rPr lang="en-US" altLang="ko-KR" sz="1500" dirty="0"/>
              <a:t>(End</a:t>
            </a:r>
            <a:r>
              <a:rPr lang="en-US" altLang="ko-KR" sz="1500" dirty="0" smtClean="0"/>
              <a:t>):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완료된 건을 확인한 상태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5) </a:t>
            </a:r>
            <a:r>
              <a:rPr lang="ja-JP" altLang="en-US" sz="1500" dirty="0" smtClean="0"/>
              <a:t>フ</a:t>
            </a:r>
            <a:r>
              <a:rPr lang="ja-JP" altLang="en-US" sz="1500" dirty="0"/>
              <a:t>ィードバック</a:t>
            </a:r>
            <a:r>
              <a:rPr lang="en-US" altLang="ja-JP" sz="1500" dirty="0"/>
              <a:t>(</a:t>
            </a:r>
            <a:r>
              <a:rPr lang="en-US" altLang="ja-JP" sz="1500" dirty="0" err="1"/>
              <a:t>FeedBack</a:t>
            </a:r>
            <a:r>
              <a:rPr lang="en-US" altLang="ja-JP" sz="1500" dirty="0" smtClean="0"/>
              <a:t>)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완료된 건에 </a:t>
            </a: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	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	            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피드백을 준 상태</a:t>
            </a: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</a:t>
            </a:r>
          </a:p>
          <a:p>
            <a:pPr>
              <a:lnSpc>
                <a:spcPct val="150000"/>
              </a:lnSpc>
            </a:pPr>
            <a:endParaRPr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0A78AD-3F00-45A5-8BAD-908BDE8FCE1E}"/>
              </a:ext>
            </a:extLst>
          </p:cNvPr>
          <p:cNvSpPr/>
          <p:nvPr/>
        </p:nvSpPr>
        <p:spPr>
          <a:xfrm>
            <a:off x="176142" y="1182279"/>
            <a:ext cx="7298191" cy="5381011"/>
          </a:xfrm>
          <a:prstGeom prst="rect">
            <a:avLst/>
          </a:prstGeom>
          <a:noFill/>
          <a:ln>
            <a:solidFill>
              <a:srgbClr val="6777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 rot="10800000" flipV="1">
            <a:off x="6770192" y="1671393"/>
            <a:ext cx="182648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85304" y="1186654"/>
            <a:ext cx="7289029" cy="5552805"/>
            <a:chOff x="185304" y="1186654"/>
            <a:chExt cx="7289029" cy="555280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305" y="1449853"/>
              <a:ext cx="7289028" cy="5289606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/>
            <a:srcRect b="86679"/>
            <a:stretch/>
          </p:blipFill>
          <p:spPr>
            <a:xfrm>
              <a:off x="185304" y="1186654"/>
              <a:ext cx="7289029" cy="718856"/>
            </a:xfrm>
            <a:prstGeom prst="rect">
              <a:avLst/>
            </a:prstGeom>
            <a:ln>
              <a:solidFill>
                <a:srgbClr val="677787"/>
              </a:solidFill>
            </a:ln>
          </p:spPr>
        </p:pic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6B7A7B1B-2415-41D1-A611-1C665447C624}"/>
              </a:ext>
            </a:extLst>
          </p:cNvPr>
          <p:cNvSpPr/>
          <p:nvPr/>
        </p:nvSpPr>
        <p:spPr>
          <a:xfrm>
            <a:off x="6962002" y="1671393"/>
            <a:ext cx="281030" cy="2826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en-US" altLang="ko-KR" sz="7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1</a:t>
            </a:r>
            <a:endParaRPr lang="ko-KR" altLang="en-US" sz="700" b="1" dirty="0">
              <a:solidFill>
                <a:schemeClr val="tx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7A7B1B-2415-41D1-A611-1C665447C624}"/>
              </a:ext>
            </a:extLst>
          </p:cNvPr>
          <p:cNvSpPr/>
          <p:nvPr/>
        </p:nvSpPr>
        <p:spPr>
          <a:xfrm>
            <a:off x="1553361" y="2519295"/>
            <a:ext cx="281030" cy="2826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en-US" altLang="ko-KR" sz="7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2</a:t>
            </a:r>
            <a:endParaRPr lang="ko-KR" altLang="en-US" sz="700" b="1" dirty="0">
              <a:solidFill>
                <a:schemeClr val="tx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사이트 사용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14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45" y="1284714"/>
            <a:ext cx="3064064" cy="4117541"/>
          </a:xfrm>
          <a:prstGeom prst="rect">
            <a:avLst/>
          </a:prstGeom>
          <a:ln w="19050">
            <a:solidFill>
              <a:srgbClr val="677787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4300809" y="5760468"/>
            <a:ext cx="3181510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설치 파일 다운로드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wms.imacro.co.kr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접속하여 다운로드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771" y="1284713"/>
            <a:ext cx="3075252" cy="4117542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803" y="1422274"/>
            <a:ext cx="3054094" cy="4139372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60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968780" y="3491960"/>
            <a:ext cx="398395" cy="398395"/>
          </a:xfrm>
          <a:prstGeom prst="rect">
            <a:avLst/>
          </a:prstGeom>
        </p:spPr>
      </p:pic>
      <p:pic>
        <p:nvPicPr>
          <p:cNvPr id="61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700171" y="1696491"/>
            <a:ext cx="398395" cy="398395"/>
          </a:xfrm>
          <a:prstGeom prst="rect">
            <a:avLst/>
          </a:prstGeom>
        </p:spPr>
      </p:pic>
      <p:pic>
        <p:nvPicPr>
          <p:cNvPr id="62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245466" y="4046806"/>
            <a:ext cx="398395" cy="3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5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08" y="1357960"/>
            <a:ext cx="302400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4" name="그림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534" y="1332468"/>
            <a:ext cx="302400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5" name="그림 4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361" y="1332468"/>
            <a:ext cx="302400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57374" y="5862765"/>
            <a:ext cx="7764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설치 파일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파일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실행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wms.imacro.co.kr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접속하여 다운로드다운로드 받은 파일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en-US" altLang="ko-KR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macroWms-release.apk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터치하여 설치를 진행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2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819398" y="3571960"/>
            <a:ext cx="398395" cy="3983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9233295" y="5883914"/>
            <a:ext cx="1622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설치 완료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8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824182" y="3583158"/>
            <a:ext cx="398395" cy="3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2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2076542" y="5921131"/>
            <a:ext cx="7764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바코드 스캔 세팅 설정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[Honeywell Settings] – [</a:t>
            </a:r>
            <a:r>
              <a:rPr lang="en-US" altLang="ko-KR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Sacnning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– [Internal </a:t>
            </a:r>
            <a:r>
              <a:rPr lang="en-US" altLang="ko-KR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Sacnner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2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819398" y="3571960"/>
            <a:ext cx="398395" cy="398395"/>
          </a:xfrm>
          <a:prstGeom prst="rect">
            <a:avLst/>
          </a:prstGeom>
        </p:spPr>
      </p:pic>
      <p:pic>
        <p:nvPicPr>
          <p:cNvPr id="28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824182" y="3583158"/>
            <a:ext cx="398395" cy="3983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67" y="1318993"/>
            <a:ext cx="249075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045" y="1318993"/>
            <a:ext cx="249075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923" y="1318993"/>
            <a:ext cx="249075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32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610302" y="3275718"/>
            <a:ext cx="398395" cy="398395"/>
          </a:xfrm>
          <a:prstGeom prst="rect">
            <a:avLst/>
          </a:prstGeom>
        </p:spPr>
      </p:pic>
      <p:pic>
        <p:nvPicPr>
          <p:cNvPr id="33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976145" y="4415024"/>
            <a:ext cx="398395" cy="398395"/>
          </a:xfrm>
          <a:prstGeom prst="rect">
            <a:avLst/>
          </a:prstGeom>
        </p:spPr>
      </p:pic>
      <p:pic>
        <p:nvPicPr>
          <p:cNvPr id="34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987100" y="1808011"/>
            <a:ext cx="398395" cy="3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8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4B0AF7-FB2B-4D07-B38A-B53750762396}"/>
              </a:ext>
            </a:extLst>
          </p:cNvPr>
          <p:cNvSpPr/>
          <p:nvPr/>
        </p:nvSpPr>
        <p:spPr>
          <a:xfrm>
            <a:off x="147638" y="153579"/>
            <a:ext cx="919162" cy="675097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89236-FE90-4DE7-8BC2-956EFF35CCF7}"/>
              </a:ext>
            </a:extLst>
          </p:cNvPr>
          <p:cNvSpPr txBox="1"/>
          <p:nvPr/>
        </p:nvSpPr>
        <p:spPr>
          <a:xfrm>
            <a:off x="247345" y="15357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  <a:endParaRPr lang="ko-KR" altLang="en-US" sz="4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3C59D-CA1A-40C0-820E-B3F77010BFDD}"/>
              </a:ext>
            </a:extLst>
          </p:cNvPr>
          <p:cNvSpPr txBox="1"/>
          <p:nvPr/>
        </p:nvSpPr>
        <p:spPr>
          <a:xfrm>
            <a:off x="1214438" y="256015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이슈</a:t>
            </a:r>
            <a:r>
              <a:rPr lang="en-US" altLang="ko-KR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400" smtClean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문의 관리 사이트 접속방법</a:t>
            </a:r>
            <a:endParaRPr lang="en-US" altLang="ko-KR" sz="2400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8F41B-3AD8-4201-97E2-9E6D0676224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77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255F6-4BB9-034A-B469-E31047B70346}"/>
              </a:ext>
            </a:extLst>
          </p:cNvPr>
          <p:cNvSpPr txBox="1"/>
          <p:nvPr/>
        </p:nvSpPr>
        <p:spPr>
          <a:xfrm>
            <a:off x="247345" y="153579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EFC2C-BBCB-464E-BA87-A707C1E42D50}"/>
              </a:ext>
            </a:extLst>
          </p:cNvPr>
          <p:cNvSpPr txBox="1"/>
          <p:nvPr/>
        </p:nvSpPr>
        <p:spPr>
          <a:xfrm>
            <a:off x="1377377" y="298263"/>
            <a:ext cx="644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</a:t>
            </a:r>
            <a:r>
              <a:rPr lang="ko-KR" altLang="en-US" sz="24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[R] 22">
            <a:extLst>
              <a:ext uri="{FF2B5EF4-FFF2-40B4-BE49-F238E27FC236}">
                <a16:creationId xmlns:a16="http://schemas.microsoft.com/office/drawing/2014/main" id="{158A0074-29A4-7D42-BA8A-04677DB4F8B2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09A046-B56C-4A7C-A5CC-53E3EA47CF86}"/>
              </a:ext>
            </a:extLst>
          </p:cNvPr>
          <p:cNvSpPr txBox="1"/>
          <p:nvPr/>
        </p:nvSpPr>
        <p:spPr>
          <a:xfrm>
            <a:off x="2076542" y="5921131"/>
            <a:ext cx="7764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바코드 스캔 세팅 설정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[Default profile] – [Data Processing Settings] – [Scan To Intent]  </a:t>
            </a: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체크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2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819398" y="3571960"/>
            <a:ext cx="398395" cy="398395"/>
          </a:xfrm>
          <a:prstGeom prst="rect">
            <a:avLst/>
          </a:prstGeom>
        </p:spPr>
      </p:pic>
      <p:pic>
        <p:nvPicPr>
          <p:cNvPr id="28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824182" y="3583158"/>
            <a:ext cx="398395" cy="398395"/>
          </a:xfrm>
          <a:prstGeom prst="rect">
            <a:avLst/>
          </a:prstGeom>
        </p:spPr>
      </p:pic>
      <p:pic>
        <p:nvPicPr>
          <p:cNvPr id="32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610302" y="3275718"/>
            <a:ext cx="398395" cy="398395"/>
          </a:xfrm>
          <a:prstGeom prst="rect">
            <a:avLst/>
          </a:prstGeom>
        </p:spPr>
      </p:pic>
      <p:pic>
        <p:nvPicPr>
          <p:cNvPr id="33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976145" y="4415024"/>
            <a:ext cx="398395" cy="398395"/>
          </a:xfrm>
          <a:prstGeom prst="rect">
            <a:avLst/>
          </a:prstGeom>
        </p:spPr>
      </p:pic>
      <p:pic>
        <p:nvPicPr>
          <p:cNvPr id="34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987100" y="1808011"/>
            <a:ext cx="398395" cy="39839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67" y="1460113"/>
            <a:ext cx="249075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377" y="1460113"/>
            <a:ext cx="249075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922" y="1460113"/>
            <a:ext cx="2490750" cy="4428000"/>
          </a:xfrm>
          <a:prstGeom prst="rect">
            <a:avLst/>
          </a:prstGeom>
          <a:ln w="12700">
            <a:solidFill>
              <a:srgbClr val="677787"/>
            </a:solidFill>
          </a:ln>
        </p:spPr>
      </p:pic>
      <p:pic>
        <p:nvPicPr>
          <p:cNvPr id="27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777384" y="1969520"/>
            <a:ext cx="398395" cy="398395"/>
          </a:xfrm>
          <a:prstGeom prst="rect">
            <a:avLst/>
          </a:prstGeom>
        </p:spPr>
      </p:pic>
      <p:pic>
        <p:nvPicPr>
          <p:cNvPr id="29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161363" y="1969519"/>
            <a:ext cx="398395" cy="398395"/>
          </a:xfrm>
          <a:prstGeom prst="rect">
            <a:avLst/>
          </a:prstGeom>
        </p:spPr>
      </p:pic>
      <p:pic>
        <p:nvPicPr>
          <p:cNvPr id="30" name="그래픽 21" descr="확인 표시">
            <a:extLst>
              <a:ext uri="{FF2B5EF4-FFF2-40B4-BE49-F238E27FC236}">
                <a16:creationId xmlns:a16="http://schemas.microsoft.com/office/drawing/2014/main" id="{7AB97EB5-A984-4822-9C36-186B036E83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843984" y="4743604"/>
            <a:ext cx="398395" cy="3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5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noAutofit/>
      </a:bodyPr>
      <a:lstStyle>
        <a:defPPr>
          <a:lnSpc>
            <a:spcPct val="150000"/>
          </a:lnSpc>
          <a:defRPr sz="1500" dirty="0" smtClean="0">
            <a:solidFill>
              <a:schemeClr val="tx1">
                <a:lumMod val="75000"/>
                <a:lumOff val="25000"/>
              </a:schemeClr>
            </a:solidFill>
            <a:latin typeface="나눔스퀘어 Bold" panose="020B0600000101010101" pitchFamily="50" charset="-127"/>
            <a:ea typeface="나눔스퀘어 Bold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43230</TotalTime>
  <Words>881</Words>
  <Application>Microsoft Office PowerPoint</Application>
  <PresentationFormat>와이드스크린</PresentationFormat>
  <Paragraphs>142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나눔스퀘어</vt:lpstr>
      <vt:lpstr>나눔스퀘어 Bold</vt:lpstr>
      <vt:lpstr>나눔스퀘어 ExtraBold</vt:lpstr>
      <vt:lpstr>나눔바른고딕</vt:lpstr>
      <vt:lpstr>HY그래픽M</vt:lpstr>
      <vt:lpstr>Arial</vt:lpstr>
      <vt:lpstr>맑은 고딕</vt:lpstr>
      <vt:lpstr>ＭＳ Ｐゴシック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pglee</dc:creator>
  <cp:lastModifiedBy>신현규</cp:lastModifiedBy>
  <cp:revision>387</cp:revision>
  <dcterms:created xsi:type="dcterms:W3CDTF">2020-12-09T02:49:11Z</dcterms:created>
  <dcterms:modified xsi:type="dcterms:W3CDTF">2025-12-30T05:22:40Z</dcterms:modified>
</cp:coreProperties>
</file>